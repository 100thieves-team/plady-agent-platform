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3484a27bc24527" /><Relationship Type="http://schemas.openxmlformats.org/officeDocument/2006/relationships/extended-properties" Target="/docProps/app.xml" Id="R4d83571db3724050" /><Relationship Type="http://schemas.openxmlformats.org/officeDocument/2006/relationships/officeDocument" Target="/ppt/presentation.xml" Id="R296364ece6e740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7bbc2ac0f943fb"/>
  </p:sldMasterIdLst>
  <p:notesMasterIdLst>
    <p:notesMasterId xmlns:r="http://schemas.openxmlformats.org/officeDocument/2006/relationships" r:id="Rcc9ce62ee58d4f15"/>
  </p:notesMasterIdLst>
  <p:sldIdLst>
    <p:sldId xmlns:r="http://schemas.openxmlformats.org/officeDocument/2006/relationships" id="256" r:id="R52d3eb0ee96547f5"/>
    <p:sldId xmlns:r="http://schemas.openxmlformats.org/officeDocument/2006/relationships" id="257" r:id="R5bb7e5b71da7472d"/>
    <p:sldId xmlns:r="http://schemas.openxmlformats.org/officeDocument/2006/relationships" id="258" r:id="Rbf406617d81d4d55"/>
    <p:sldId xmlns:r="http://schemas.openxmlformats.org/officeDocument/2006/relationships" id="259" r:id="R406231fd2c484c2b"/>
    <p:sldId xmlns:r="http://schemas.openxmlformats.org/officeDocument/2006/relationships" id="260" r:id="Re2ffda4c90f54a21"/>
    <p:sldId xmlns:r="http://schemas.openxmlformats.org/officeDocument/2006/relationships" id="261" r:id="R0ede8906e5f74ef2"/>
    <p:sldId xmlns:r="http://schemas.openxmlformats.org/officeDocument/2006/relationships" id="262" r:id="Rf1b1c120e4204013"/>
    <p:sldId xmlns:r="http://schemas.openxmlformats.org/officeDocument/2006/relationships" id="263" r:id="R793a2b62e02b4d75"/>
    <p:sldId xmlns:r="http://schemas.openxmlformats.org/officeDocument/2006/relationships" id="264" r:id="Ra7ef4da6c30a43b4"/>
    <p:sldId xmlns:r="http://schemas.openxmlformats.org/officeDocument/2006/relationships" id="265" r:id="R123383bdd2f04521"/>
    <p:sldId xmlns:r="http://schemas.openxmlformats.org/officeDocument/2006/relationships" id="266" r:id="R31a6fb7f6e1c4a12"/>
    <p:sldId xmlns:r="http://schemas.openxmlformats.org/officeDocument/2006/relationships" id="267" r:id="Rc5d1a23b607f4319"/>
    <p:sldId xmlns:r="http://schemas.openxmlformats.org/officeDocument/2006/relationships" id="268" r:id="R3edf7586ad864f53"/>
    <p:sldId xmlns:r="http://schemas.openxmlformats.org/officeDocument/2006/relationships" id="269" r:id="R8e1e2e8928dc4569"/>
    <p:sldId xmlns:r="http://schemas.openxmlformats.org/officeDocument/2006/relationships" id="270" r:id="Rd84d475622564be7"/>
    <p:sldId xmlns:r="http://schemas.openxmlformats.org/officeDocument/2006/relationships" id="271" r:id="R8f50e51a1c2f4dfc"/>
    <p:sldId xmlns:r="http://schemas.openxmlformats.org/officeDocument/2006/relationships" id="272" r:id="R425d3766ef4b40f8"/>
    <p:sldId xmlns:r="http://schemas.openxmlformats.org/officeDocument/2006/relationships" id="273" r:id="Re89755bfc176451d"/>
    <p:sldId xmlns:r="http://schemas.openxmlformats.org/officeDocument/2006/relationships" id="274" r:id="R3cb7f712efa14364"/>
    <p:sldId xmlns:r="http://schemas.openxmlformats.org/officeDocument/2006/relationships" id="275" r:id="Rfb6548f9b5004705"/>
    <p:sldId xmlns:r="http://schemas.openxmlformats.org/officeDocument/2006/relationships" id="276" r:id="R4169c64aaa1f47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e66f1094e84f9e" /><Relationship Type="http://schemas.openxmlformats.org/officeDocument/2006/relationships/slideMaster" Target="/ppt/slideMasters/slideMaster1.xml" Id="Reb7bbc2ac0f943fb" /><Relationship Type="http://schemas.openxmlformats.org/officeDocument/2006/relationships/notesMaster" Target="/ppt/notesMasters/notesMaster1.xml" Id="Rcc9ce62ee58d4f15" /><Relationship Type="http://schemas.openxmlformats.org/officeDocument/2006/relationships/presProps" Target="/ppt/presProps.xml" Id="R68c81ceaac2f4bc8" /><Relationship Type="http://schemas.openxmlformats.org/officeDocument/2006/relationships/tableStyles" Target="/ppt/tableStyles.xml" Id="R19bbb6f16d7a44ff" /><Relationship Type="http://schemas.openxmlformats.org/officeDocument/2006/relationships/slide" Target="/ppt/slides/slide1.xml" Id="R52d3eb0ee96547f5" /><Relationship Type="http://schemas.openxmlformats.org/officeDocument/2006/relationships/slide" Target="/ppt/slides/slide2.xml" Id="R5bb7e5b71da7472d" /><Relationship Type="http://schemas.openxmlformats.org/officeDocument/2006/relationships/slide" Target="/ppt/slides/slide3.xml" Id="Rbf406617d81d4d55" /><Relationship Type="http://schemas.openxmlformats.org/officeDocument/2006/relationships/slide" Target="/ppt/slides/slide4.xml" Id="R406231fd2c484c2b" /><Relationship Type="http://schemas.openxmlformats.org/officeDocument/2006/relationships/slide" Target="/ppt/slides/slide5.xml" Id="Re2ffda4c90f54a21" /><Relationship Type="http://schemas.openxmlformats.org/officeDocument/2006/relationships/slide" Target="/ppt/slides/slide6.xml" Id="R0ede8906e5f74ef2" /><Relationship Type="http://schemas.openxmlformats.org/officeDocument/2006/relationships/slide" Target="/ppt/slides/slide7.xml" Id="Rf1b1c120e4204013" /><Relationship Type="http://schemas.openxmlformats.org/officeDocument/2006/relationships/slide" Target="/ppt/slides/slide8.xml" Id="R793a2b62e02b4d75" /><Relationship Type="http://schemas.openxmlformats.org/officeDocument/2006/relationships/slide" Target="/ppt/slides/slide9.xml" Id="Ra7ef4da6c30a43b4" /><Relationship Type="http://schemas.openxmlformats.org/officeDocument/2006/relationships/slide" Target="/ppt/slides/slide10.xml" Id="R123383bdd2f04521" /><Relationship Type="http://schemas.openxmlformats.org/officeDocument/2006/relationships/slide" Target="/ppt/slides/slide11.xml" Id="R31a6fb7f6e1c4a12" /><Relationship Type="http://schemas.openxmlformats.org/officeDocument/2006/relationships/slide" Target="/ppt/slides/slide12.xml" Id="Rc5d1a23b607f4319" /><Relationship Type="http://schemas.openxmlformats.org/officeDocument/2006/relationships/slide" Target="/ppt/slides/slide13.xml" Id="R3edf7586ad864f53" /><Relationship Type="http://schemas.openxmlformats.org/officeDocument/2006/relationships/slide" Target="/ppt/slides/slide14.xml" Id="R8e1e2e8928dc4569" /><Relationship Type="http://schemas.openxmlformats.org/officeDocument/2006/relationships/slide" Target="/ppt/slides/slide15.xml" Id="Rd84d475622564be7" /><Relationship Type="http://schemas.openxmlformats.org/officeDocument/2006/relationships/slide" Target="/ppt/slides/slide16.xml" Id="R8f50e51a1c2f4dfc" /><Relationship Type="http://schemas.openxmlformats.org/officeDocument/2006/relationships/slide" Target="/ppt/slides/slide17.xml" Id="R425d3766ef4b40f8" /><Relationship Type="http://schemas.openxmlformats.org/officeDocument/2006/relationships/slide" Target="/ppt/slides/slide18.xml" Id="Re89755bfc176451d" /><Relationship Type="http://schemas.openxmlformats.org/officeDocument/2006/relationships/slide" Target="/ppt/slides/slide19.xml" Id="R3cb7f712efa14364" /><Relationship Type="http://schemas.openxmlformats.org/officeDocument/2006/relationships/slide" Target="/ppt/slides/slide20.xml" Id="Rfb6548f9b5004705" /><Relationship Type="http://schemas.openxmlformats.org/officeDocument/2006/relationships/slide" Target="/ppt/slides/slide21.xml" Id="R4169c64aaa1f47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8459c096b43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2e11772c81490d" /><Relationship Type="http://schemas.openxmlformats.org/officeDocument/2006/relationships/notesMaster" Target="/ppt/notesMasters/notesMaster1.xml" Id="R19e5d99ea2d340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6a0ff738a149f6" /><Relationship Type="http://schemas.openxmlformats.org/officeDocument/2006/relationships/notesMaster" Target="/ppt/notesMasters/notesMaster1.xml" Id="R75375893164441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0fa6684dda4322" /><Relationship Type="http://schemas.openxmlformats.org/officeDocument/2006/relationships/notesMaster" Target="/ppt/notesMasters/notesMaster1.xml" Id="R9852d0a38ff3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369c7723de43bf" /><Relationship Type="http://schemas.openxmlformats.org/officeDocument/2006/relationships/notesMaster" Target="/ppt/notesMasters/notesMaster1.xml" Id="Ra97ef0d39264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c4cd70e1744bbc" /><Relationship Type="http://schemas.openxmlformats.org/officeDocument/2006/relationships/notesMaster" Target="/ppt/notesMasters/notesMaster1.xml" Id="R6788ac64c39641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2239a9f9144533" /><Relationship Type="http://schemas.openxmlformats.org/officeDocument/2006/relationships/notesMaster" Target="/ppt/notesMasters/notesMaster1.xml" Id="R790dc655794248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ea4a4d8f4c453e" /><Relationship Type="http://schemas.openxmlformats.org/officeDocument/2006/relationships/notesMaster" Target="/ppt/notesMasters/notesMaster1.xml" Id="R84ef0d1db23641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770d1cb474473" /><Relationship Type="http://schemas.openxmlformats.org/officeDocument/2006/relationships/notesMaster" Target="/ppt/notesMasters/notesMaster1.xml" Id="R0840bbc8346f4d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90ed5047db4e12" /><Relationship Type="http://schemas.openxmlformats.org/officeDocument/2006/relationships/notesMaster" Target="/ppt/notesMasters/notesMaster1.xml" Id="Rc53a9317d2f2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a61fbab41469a" /><Relationship Type="http://schemas.openxmlformats.org/officeDocument/2006/relationships/notesMaster" Target="/ppt/notesMasters/notesMaster1.xml" Id="Rc5b7413849854c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3d226174e64a30" /><Relationship Type="http://schemas.openxmlformats.org/officeDocument/2006/relationships/notesMaster" Target="/ppt/notesMasters/notesMaster1.xml" Id="Re09919f4c14941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cccd4dcf644d89" /><Relationship Type="http://schemas.openxmlformats.org/officeDocument/2006/relationships/notesMaster" Target="/ppt/notesMasters/notesMaster1.xml" Id="Rd2099633ab7e42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36d1ca446a4429" /><Relationship Type="http://schemas.openxmlformats.org/officeDocument/2006/relationships/notesMaster" Target="/ppt/notesMasters/notesMaster1.xml" Id="R5329675fe0e448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5455f6a50640a2" /><Relationship Type="http://schemas.openxmlformats.org/officeDocument/2006/relationships/notesMaster" Target="/ppt/notesMasters/notesMaster1.xml" Id="R384d3ad60f434a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1b33532eff4e81" /><Relationship Type="http://schemas.openxmlformats.org/officeDocument/2006/relationships/notesMaster" Target="/ppt/notesMasters/notesMaster1.xml" Id="R8d9c9bc830dc46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30f69415ef4cbd" /><Relationship Type="http://schemas.openxmlformats.org/officeDocument/2006/relationships/notesMaster" Target="/ppt/notesMasters/notesMaster1.xml" Id="R6be6265a322440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464131891e4c77" /><Relationship Type="http://schemas.openxmlformats.org/officeDocument/2006/relationships/notesMaster" Target="/ppt/notesMasters/notesMaster1.xml" Id="Ra3c8368ad22947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8f44c6a3a742f4" /><Relationship Type="http://schemas.openxmlformats.org/officeDocument/2006/relationships/notesMaster" Target="/ppt/notesMasters/notesMaster1.xml" Id="R984b642b40bc4be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c3eeb2ef59541c6" /><Relationship Type="http://schemas.openxmlformats.org/officeDocument/2006/relationships/notesMaster" Target="/ppt/notesMasters/notesMaster1.xml" Id="R1c08d57a558148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6e3fc469bb144bf" /><Relationship Type="http://schemas.openxmlformats.org/officeDocument/2006/relationships/notesMaster" Target="/ppt/notesMasters/notesMaster1.xml" Id="R4e606db21bef43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792b291b08f4203" /><Relationship Type="http://schemas.openxmlformats.org/officeDocument/2006/relationships/notesMaster" Target="/ppt/notesMasters/notesMaster1.xml" Id="R242211e9a93d45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text: /Users/luna/.codex/attachments/a79e3c1a-46ab-4cac-93d8-d9598d50b1c2/pasted-text.txt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/Users/luna/Desktop_nonsync/project/cluverse-api/docs/blog/01-cluverse-소개-배경-목표.md</a:t>
            </a:r>
          </a:p>
          <a:p xmlns:a="http://schemas.openxmlformats.org/drawingml/2006/main">
            <a:r>
              <a:t>- https://velog.io/@bebeis/cluvserse-start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/Users/luna/Desktop_nonsync/project/cluverse-api/docs/blog/cluverse-devlog-10-전반적인 성능 개선.md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/Users/luna/Desktop_nonsync/project/cluverse-api/terraform/README.md</a:t>
            </a:r>
          </a:p>
          <a:p xmlns:a="http://schemas.openxmlformats.org/drawingml/2006/main">
            <a:r>
              <a:t>- /Users/luna/Desktop_nonsync/project/cluverse-api/terraform/test/ecs.tf</a:t>
            </a:r>
          </a:p>
          <a:p xmlns:a="http://schemas.openxmlformats.org/drawingml/2006/main">
            <a:r>
              <a:t>- /Users/luna/Desktop_nonsync/project/cluverse-api/terraform/test/mysql.tf</a:t>
            </a:r>
          </a:p>
          <a:p xmlns:a="http://schemas.openxmlformats.org/drawingml/2006/main">
            <a:r>
              <a:t>- /Users/luna/Desktop_nonsync/project/cluverse-api/terraform/test/redis.tf</a:t>
            </a:r>
          </a:p>
          <a:p xmlns:a="http://schemas.openxmlformats.org/drawingml/2006/main">
            <a:r>
              <a:t>- /Users/luna/Desktop_nonsync/project/cluverse-api/terraform/test/monitoring.tf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  <a:p xmlns:a="http://schemas.openxmlformats.org/drawingml/2006/main">
            <a:r>
              <a:t>- /Users/luna/Desktop_nonsync/project/cluverse-api/docs/blog/assets/devlog-8/place-save-before.drawio.png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/Users/luna/Desktop_nonsync/project/cluverse-api/docs/blog/cluverse-devlog-8-대학생-현지인-로컬맵.md</a:t>
            </a:r>
          </a:p>
          <a:p xmlns:a="http://schemas.openxmlformats.org/drawingml/2006/main">
            <a:r>
              <a:t>- /Users/luna/Desktop_nonsync/project/cluverse-api/docs/blog/assets/devlog-8/place-save-after.drawio.png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/Users/luna/Desktop_nonsync/project/cluverse-api/docs/blog/assets/devlog-11/image-upload-sync-lambda-architecture.png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Measured table: V1 16.09 req/s, V2 32.71 req/s, V3 33.24 req/s; platform thread max 75/151/87; p99 8,120.7/3,581.1/3,358.1ms.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/Users/luna/Desktop_nonsync/project/cluverse-api/docs/blog/cluverse-devlog-11-이미지 업로드.md</a:t>
            </a:r>
          </a:p>
          <a:p xmlns:a="http://schemas.openxmlformats.org/drawingml/2006/main">
            <a:r>
              <a:t>- /Users/luna/Desktop_nonsync/project/cluverse-api/docs/blog/assets/devlog-11/db-s3-compensation-flow.drawio.png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/Users/luna/Desktop_nonsync/project/cluverse-api/docs/blog/cluverse-devlog-4-게시글-조회수-설계-V3.md</a:t>
            </a:r>
          </a:p>
          <a:p xmlns:a="http://schemas.openxmlformats.org/drawingml/2006/main">
            <a:r>
              <a:t>- /Users/luna/Desktop_nonsync/project/cluverse-api/docs/blog/assets/devlog-4/hot-row-connection-queue.drawio.png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/Users/luna/Desktop_nonsync/project/cluverse-api/docs/blog/cluverse-devlog-5-조회수 어뷰징 방지와 Redis Write-back.md</a:t>
            </a:r>
          </a:p>
          <a:p xmlns:a="http://schemas.openxmlformats.org/drawingml/2006/main">
            <a:r>
              <a:t>- /Users/luna/Desktop_nonsync/project/cluverse-api/docs/blog/assets/devlog-5/full-counter-redis-coordination.png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/Users/luna/Desktop_nonsync/project/cluverse-api/script/view-count/results/raw/20260806-112406-bench-v4-distributed-summary.json</a:t>
            </a:r>
          </a:p>
          <a:p xmlns:a="http://schemas.openxmlformats.org/drawingml/2006/main">
            <a:r>
              <a:t>- /Users/luna/Desktop_nonsync/project/cluverse-api/script/view-count/results/metrics.csv</a:t>
            </a:r>
          </a:p>
          <a:p xmlns:a="http://schemas.openxmlformats.org/drawingml/2006/main">
            <a:r>
              <a:t>- /Users/luna/Desktop_nonsync/project/cluverse-api/docs/blog/cluverse-devlog-5-조회수 어뷰징 방지와 Redis Write-back.md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/Users/luna/Desktop_nonsync/project/cluverse-api/docs/blog/assets/devlog-3/offset-vs-late-join.drawio.png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/Users/luna/Desktop_nonsync/project/cluverse-api/docs/blog/assets/devlog-3/date-anchor-cursor.drawio.png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/Users/luna/Desktop_nonsync/project/cluverse-api/docs/blog/cluverse-devlog-3-게시글-목록-조회.md</a:t>
            </a:r>
          </a:p>
          <a:p xmlns:a="http://schemas.openxmlformats.org/drawingml/2006/main">
            <a:r>
              <a:t>- Measured table: 300/400/500 RPS, p99 62.92/195.58/173.00ms, DB CPU avg 47.64/64.09/80.53%, cache hit 79.94/80.11/79.91%.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upstream llm-wiki를 감싼 plady-agent-platform의 범위와 서비스 구성</a:t>
            </a:r>
          </a:p>
          <a:p xmlns:a="http://schemas.openxmlformats.org/drawingml/2006/main">
            <a:r>
              <a:t>- llm-wiki/README.md — Git-backed Markdown wiki, MCP/ACP, 단일 Rust 바이너리</a:t>
            </a:r>
          </a:p>
          <a:p xmlns:a="http://schemas.openxmlformats.org/drawingml/2006/main">
            <a:r>
              <a:t>- git history — Junseo Bae의 2026-06~2026-08 플랫폼 통합 작업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llm-wiki/README.md — DKR, typed frontmatter, Tantivy index, Git history</a:t>
            </a:r>
          </a:p>
          <a:p xmlns:a="http://schemas.openxmlformats.org/drawingml/2006/main">
            <a:r>
              <a:t>- docs/agent-ingest-workflow.md — agent compile → direct write → wiki_ingest 책임 분리</a:t>
            </a:r>
          </a:p>
          <a:p xmlns:a="http://schemas.openxmlformats.org/drawingml/2006/main">
            <a:r>
              <a:t>- docs/wiki-data-repo.md — raw/wiki 데이터 계층과 team-wiki-v2 backing 계약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로컬/운영 서비스 구성과 공개 엔드포인트</a:t>
            </a:r>
          </a:p>
          <a:p xmlns:a="http://schemas.openxmlformats.org/drawingml/2006/main">
            <a:r>
              <a:t>- compose.ec2.yaml — caddy, mcp-proxy, llm-wiki, wiki-ui, wiki-data-sync, hermes-gateway</a:t>
            </a:r>
          </a:p>
          <a:p xmlns:a="http://schemas.openxmlformats.org/drawingml/2006/main">
            <a:r>
              <a:t>- docs/platform-contract.md — DNS/ACM/ALB/SSM 경계</a:t>
            </a:r>
          </a:p>
          <a:p xmlns:a="http://schemas.openxmlformats.org/drawingml/2006/main">
            <a:r>
              <a:t>- docs/otel-collector.md — 내부 전용 OTLP와 local-first export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config/mcp-registry.yaml — allow/approve/deny tiers, default-deny, secret_ref</a:t>
            </a:r>
          </a:p>
          <a:p xmlns:a="http://schemas.openxmlformats.org/drawingml/2006/main">
            <a:r>
              <a:t>- docs/mcp-registry.md — 사람 승인 흐름과 도구 정책 계약</a:t>
            </a:r>
          </a:p>
          <a:p xmlns:a="http://schemas.openxmlformats.org/drawingml/2006/main">
            <a:r>
              <a:t>- compose.ec2.yaml — bearer-protected mcp-proxy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compose.ec2.yaml — wiki-data-sync boot wiring, commit/rebase/push loop, retry behavior</a:t>
            </a:r>
          </a:p>
          <a:p xmlns:a="http://schemas.openxmlformats.org/drawingml/2006/main">
            <a:r>
              <a:t>- docs/wiki-data-repo.md — named volume + compose sidecar 운영 모델</a:t>
            </a:r>
          </a:p>
          <a:p xmlns:a="http://schemas.openxmlformats.org/drawingml/2006/main">
            <a:r>
              <a:t>- git commits 05fe9e5, 68c7edc, 98ad51f — origin 멱등성과 deploy-key newline 결함 수정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 synthesis based on the Cluverse case study and repository-grounded LLM Wiki Platform slides 16-20.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973fa919e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2534adb2e4d7c" /><Relationship Type="http://schemas.openxmlformats.org/officeDocument/2006/relationships/slideLayout" Target="/ppt/slideLayouts/slideLayout1.xml" Id="Rb6cff38f4901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ff38f4901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6d78bbf54faf" /><Relationship Type="http://schemas.openxmlformats.org/officeDocument/2006/relationships/notesSlide" Target="/ppt/notesSlides/notesSlide1.xml" Id="R4bff2e11c171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2dfe59fa547bb" /><Relationship Type="http://schemas.openxmlformats.org/officeDocument/2006/relationships/notesSlide" Target="/ppt/notesSlides/notesSlide2.xml" Id="Rded39c5a13a34b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a8190b5fc4f20" /><Relationship Type="http://schemas.openxmlformats.org/officeDocument/2006/relationships/notesSlide" Target="/ppt/notesSlides/notesSlide3.xml" Id="R9275047b80d048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ffab915ac4975" /><Relationship Type="http://schemas.openxmlformats.org/officeDocument/2006/relationships/notesSlide" Target="/ppt/notesSlides/notesSlide4.xml" Id="Rf74eee5d4190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e3eb748ac47f3" /><Relationship Type="http://schemas.openxmlformats.org/officeDocument/2006/relationships/image" Target="/ppt/media/image.png" Id="R2e94e92600c04fa5" /><Relationship Type="http://schemas.openxmlformats.org/officeDocument/2006/relationships/notesSlide" Target="/ppt/notesSlides/notesSlide5.xml" Id="Rfa38523e4c7c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75934fc5e4221" /><Relationship Type="http://schemas.openxmlformats.org/officeDocument/2006/relationships/image" Target="/ppt/media/image2.png" Id="Rcbe6f1dfe01d43c8" /><Relationship Type="http://schemas.openxmlformats.org/officeDocument/2006/relationships/notesSlide" Target="/ppt/notesSlides/notesSlide6.xml" Id="R45f6c92cdb53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2a572fe74637" /><Relationship Type="http://schemas.openxmlformats.org/officeDocument/2006/relationships/image" Target="/ppt/media/image3.png" Id="R3e417f870574403f" /><Relationship Type="http://schemas.openxmlformats.org/officeDocument/2006/relationships/notesSlide" Target="/ppt/notesSlides/notesSlide7.xml" Id="R135b68dc4c4d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426480b5349c1" /><Relationship Type="http://schemas.openxmlformats.org/officeDocument/2006/relationships/chart" Target="/ppt/slides/charts/chart1.xml" Id="R8d13b2cdbda1489b" /><Relationship Type="http://schemas.openxmlformats.org/officeDocument/2006/relationships/chart" Target="/ppt/slides/charts/chart2.xml" Id="R6e6c03cf10434932" /><Relationship Type="http://schemas.openxmlformats.org/officeDocument/2006/relationships/notesSlide" Target="/ppt/notesSlides/notesSlide8.xml" Id="Rcdb4efe071014a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93367a13432d" /><Relationship Type="http://schemas.openxmlformats.org/officeDocument/2006/relationships/image" Target="/ppt/media/image4.png" Id="Ree19c80841f54864" /><Relationship Type="http://schemas.openxmlformats.org/officeDocument/2006/relationships/notesSlide" Target="/ppt/notesSlides/notesSlide9.xml" Id="R233a6867920f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5921435524b54" /><Relationship Type="http://schemas.openxmlformats.org/officeDocument/2006/relationships/image" Target="/ppt/media/image5.png" Id="R9f902a4f82d54c5a" /><Relationship Type="http://schemas.openxmlformats.org/officeDocument/2006/relationships/notesSlide" Target="/ppt/notesSlides/notesSlide10.xml" Id="R775b2f98831748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e6a26be654d7f" /><Relationship Type="http://schemas.openxmlformats.org/officeDocument/2006/relationships/image" Target="/ppt/media/image6.png" Id="R4e3f287c0bc341a4" /><Relationship Type="http://schemas.openxmlformats.org/officeDocument/2006/relationships/notesSlide" Target="/ppt/notesSlides/notesSlide11.xml" Id="Reaee73aa946f49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6bdf351ed41bf" /><Relationship Type="http://schemas.openxmlformats.org/officeDocument/2006/relationships/notesSlide" Target="/ppt/notesSlides/notesSlide12.xml" Id="R7e437d96fbbc4c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856278af4499b" /><Relationship Type="http://schemas.openxmlformats.org/officeDocument/2006/relationships/image" Target="/ppt/media/image7.png" Id="Rdd341f077de045fb" /><Relationship Type="http://schemas.openxmlformats.org/officeDocument/2006/relationships/notesSlide" Target="/ppt/notesSlides/notesSlide13.xml" Id="Rddb94d0943af48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447c2df754a9c" /><Relationship Type="http://schemas.openxmlformats.org/officeDocument/2006/relationships/notesSlide" Target="/ppt/notesSlides/notesSlide14.xml" Id="Rb9c7076ccc5447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e94c27c734918" /><Relationship Type="http://schemas.openxmlformats.org/officeDocument/2006/relationships/chart" Target="/ppt/slides/charts/chart3.xml" Id="Rd88da5f1151146f7" /><Relationship Type="http://schemas.openxmlformats.org/officeDocument/2006/relationships/chart" Target="/ppt/slides/charts/chart4.xml" Id="R08aad01c9bb941b1" /><Relationship Type="http://schemas.openxmlformats.org/officeDocument/2006/relationships/notesSlide" Target="/ppt/notesSlides/notesSlide15.xml" Id="R0985b64bb9e245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3637fbb0d42f8" /><Relationship Type="http://schemas.openxmlformats.org/officeDocument/2006/relationships/notesSlide" Target="/ppt/notesSlides/notesSlide16.xml" Id="Re4fbbf48285345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b427920754d6e" /><Relationship Type="http://schemas.openxmlformats.org/officeDocument/2006/relationships/notesSlide" Target="/ppt/notesSlides/notesSlide17.xml" Id="R6689d1b6841f43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0bda8b5df4e90" /><Relationship Type="http://schemas.openxmlformats.org/officeDocument/2006/relationships/notesSlide" Target="/ppt/notesSlides/notesSlide18.xml" Id="R375f5716c23d47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9703e09e74ae8" /><Relationship Type="http://schemas.openxmlformats.org/officeDocument/2006/relationships/notesSlide" Target="/ppt/notesSlides/notesSlide19.xml" Id="Rddb94227308c42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cd77634624b3e" /><Relationship Type="http://schemas.openxmlformats.org/officeDocument/2006/relationships/notesSlide" Target="/ppt/notesSlides/notesSlide20.xml" Id="Ra74903966fa14f2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57be1911f4ff3" /><Relationship Type="http://schemas.openxmlformats.org/officeDocument/2006/relationships/notesSlide" Target="/ppt/notesSlides/notesSlide21.xml" Id="Rd995e7574d04448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처리량 req/s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순차 V1</c:v>
              </c:pt>
              <c:pt idx="1">
                <c:v>Platform V2</c:v>
              </c:pt>
              <c:pt idx="2">
                <c:v>Virtual V3</c:v>
              </c:pt>
            </c:strLit>
          </c:cat>
          <c:val>
            <c:numLit>
              <c:formatCode>General</c:formatCode>
              <c:ptCount val="3"/>
              <c:pt idx="0">
                <c:v>16.09</c:v>
              </c:pt>
              <c:pt idx="1">
                <c:v>32.71</c:v>
              </c:pt>
              <c:pt idx="2">
                <c:v>33.24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최대 Platform thread</c:v>
          </c:tx>
          <c:spPr>
            <a:solidFill xmlns:a="http://schemas.openxmlformats.org/drawingml/2006/main">
              <a:srgbClr val="12B886"/>
            </a:solidFill>
          </c:spPr>
          <c:cat>
            <c:strLit>
              <c:ptCount val="3"/>
              <c:pt idx="0">
                <c:v>순차 V1</c:v>
              </c:pt>
              <c:pt idx="1">
                <c:v>Platform V2</c:v>
              </c:pt>
              <c:pt idx="2">
                <c:v>Virtual V3</c:v>
              </c:pt>
            </c:strLit>
          </c:cat>
          <c:val>
            <c:numLit>
              <c:formatCode>General</c:formatCode>
              <c:ptCount val="3"/>
              <c:pt idx="0">
                <c:v>75</c:v>
              </c:pt>
              <c:pt idx="1">
                <c:v>151</c:v>
              </c:pt>
              <c:pt idx="2">
                <c:v>87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p99 ms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3"/>
              <c:pt idx="0">
                <c:v>300</c:v>
              </c:pt>
              <c:pt idx="1">
                <c:v>400</c:v>
              </c:pt>
              <c:pt idx="2">
                <c:v>500</c:v>
              </c:pt>
            </c:numLit>
          </c:cat>
          <c:val>
            <c:numLit>
              <c:formatCode>General</c:formatCode>
              <c:ptCount val="3"/>
              <c:pt idx="0">
                <c:v>62.92</c:v>
              </c:pt>
              <c:pt idx="1">
                <c:v>195.58</c:v>
              </c:pt>
              <c:pt idx="2">
                <c:v>173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목표 RPS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DB CPU avg %</c:v>
          </c:tx>
          <c:spPr>
            <a:solidFill xmlns:a="http://schemas.openxmlformats.org/drawingml/2006/main">
              <a:srgbClr val="12B886"/>
            </a:solidFill>
          </c:spPr>
          <c:cat>
            <c:numLit>
              <c:formatCode>General</c:formatCode>
              <c:ptCount val="3"/>
              <c:pt idx="0">
                <c:v>300</c:v>
              </c:pt>
              <c:pt idx="1">
                <c:v>400</c:v>
              </c:pt>
              <c:pt idx="2">
                <c:v>500</c:v>
              </c:pt>
            </c:numLit>
          </c:cat>
          <c:val>
            <c:numLit>
              <c:formatCode>0</c:formatCode>
              <c:ptCount val="3"/>
              <c:pt idx="0">
                <c:v>47.64</c:v>
              </c:pt>
              <c:pt idx="1">
                <c:v>64.09</c:v>
              </c:pt>
              <c:pt idx="2">
                <c:v>80.53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82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목표 RPS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0182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5B660-C9A1-43E8-8A44-4D0C6D2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EFB6-4EF6-4AA3-9A46-88E53E8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Cluverse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7F1-6E32-4FC7-8BE6-05F376D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트래픽과 실패 경계를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측정 가능한 구조로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152F-ADBC-47B8-95F9-B8FC76C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배준서 · Junseo Bae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Java / Spring / MySQL / Redis /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F2B40-3AC0-47FB-A479-5701683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9197-37A7-4B19-9DBB-578D26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E7CC6-FF7A-4FA7-A167-AAB38EC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CC08-633B-411F-B8BF-DA9207D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F64AC-1A9D-477C-BD22-8495F4A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9B69-1C64-4F3B-ACFF-CEAEF1B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문제를 하나의 현상으로 보지 않는다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3831-4D18-4BA8-A953-7D24158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96175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· CLUVERSE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학교의 벽보다 관심사의 연결을 먼저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전국 대학생이 학과·관심사로 모이고, 모집에서 실제 협업까지 이어지는 커뮤니티다.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관심사·학과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모집·지원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그룹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스파이크에서도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읽기 흐름 보호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기술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사람이 몰려도 핵심 조회·쓰기의 성공률과 tail latency가 무너지지 않는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개인 프로젝트 · 2026.01–2026.07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464EF-2706-4F82-A360-2944E82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METHOD ·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EF60-252A-451C-9937-F128DE5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최대 TPS보다 먼저 ‘통과 조건’을 고정했다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B5CC-B789-4F03-A5AF-6F12A48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E928-2BE3-44B6-BEB1-2364E2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0F5D-44D5-4E9B-8E19-888CE60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숫자가 커져도 느리거나 실패하면 제공한 처리량이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D4E11-BF3F-4546-8396-21315BA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C72A3-5532-4DAA-9B8B-C5B8AD2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64B53-6060-42B9-9FC6-224F08B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4A97A-FD4C-4D72-B14A-0D464B3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99.9%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C08F-9283-4BC1-9913-DB3536F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API 성공률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3CE4-857E-4CE2-8EC9-D5DC4F2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요청 유실과 dropped iteration까지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D1E65-F2FC-4ACD-BAC8-7AD3293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800ms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A0D27-F3E6-472D-B111-F3D1169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조회 p99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3C1B5-C5A3-4F36-91D5-B38A2F7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탐색 흐름의 꼬리 지연 상한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9C25-3415-4525-983E-ABECFF3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1.5s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AA37-9FBC-44C6-AA41-6775C40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핵심 쓰기 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45EB-FE51-4D84-90E6-E677BE4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트랜잭션과 후속 처리 비용 반영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7D720-E0FE-4823-8F8D-14062E4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4448-9C35-4360-8C37-BB942F6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10분 이상 지속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6E33E-5A01-415A-9CDA-2C4ADBC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동일 인프라·데이터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5B24C-C7B8-463C-9EB6-2E9C6E8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개방형 도착률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C206-B07C-4927-8A8C-4B036FF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회복 시간 30초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8537F-E75E-4F78-827C-2FFADA3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부하 종료 후 오류율과 p99가 30초 연속 SLO를 만족할 때 회복으로 판정</a:t>
            </a:r>
          </a:p>
        </p:txBody>
      </p:sp>
    </p:spTree>
    <p:extLst>
      <p:ext uri="{BB962C8B-B14F-4D97-AF65-F5344CB8AC3E}">
        <p14:creationId xmlns:p14="http://schemas.microsoft.com/office/powerpoint/2010/main" val="472428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B6D87-7C84-4741-8AEC-8BE1F82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ARCHITECTURE · LOAD-TEST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2E26-DCCD-4658-BA4B-17BFAC7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비용을 고정해 구조 변경의 효과만 비교했다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5B0FD-9261-42C8-950A-895B983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D8CBD-2FED-4AF3-A666-CF04049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01AC-2F40-4739-8EEC-C60075C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Terraform base/test 스택을 분리해 같은 조건으로 생성·폐기하는 검증 인프라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D374-A7A9-4510-9496-4ECE85B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676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검증 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B44B-8EBE-42D6-B6CF-6902A5B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k6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Load 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6826D-F09B-444B-B564-569967E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485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AWS ALB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9ACC-157D-4BCD-A70D-A950622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1 · t3.small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E1E9-3891-43A9-8F95-8B977F4E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ECS on EC2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 2 · t3.small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80CE-153D-4F2A-8BF3-C20CBDF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MySQL 8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t3.small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0BFDF-E04F-4E9A-8A36-D73BBF1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Redis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t3.micro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B9C0-77E6-4E3B-A934-7570352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S3 + Lambda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image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09FE-0826-4FB7-9816-BCF9170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Prometheus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+ Grafana</a:t>
            </a:r>
          </a:p>
        </p:txBody>
      </p: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24100" y="3352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267200" y="2667000"/>
            <a:ext cx="4953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67200" y="3352800"/>
            <a:ext cx="495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2667000"/>
            <a:ext cx="714375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4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6715125" y="2667000"/>
            <a:ext cx="2905125" cy="1666875"/>
          </a:xfrm>
          <a:prstGeom xmlns:a="http://schemas.openxmlformats.org/drawingml/2006/main" prst="bentConnector5">
            <a:avLst>
              <a:gd name="adj1" fmla="val 7869"/>
              <a:gd name="adj2" fmla="val 35429"/>
              <a:gd name="adj3" fmla="val 79344"/>
            </a:avLst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cxnSp>
        <p:nvCxnSpPr>
          <p:cNvPr id="9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4152900"/>
            <a:ext cx="7143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1676400"/>
          </a:xfrm>
          <a:prstGeom xmlns:a="http://schemas.openxmlformats.org/drawingml/2006/main" prst="bentConnector5">
            <a:avLst>
              <a:gd name="adj1" fmla="val 20656"/>
              <a:gd name="adj2" fmla="val 64773"/>
              <a:gd name="adj3" fmla="val 92131"/>
            </a:avLst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6715125" y="3743325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4274B-E3C5-48C1-A6ED-A11ED9A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애플리케이션 2대 · DB 1대 · Redis 1대 · 측정 노드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7EFE2-8193-41E3-AEFD-CC6E6C9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사양을 늘려 얻은 TPS와 구조 변경으로 얻은 TPS를 섞지 않았다.</a:t>
            </a:r>
          </a:p>
        </p:txBody>
      </p:sp>
    </p:spTree>
    <p:extLst>
      <p:ext uri="{BB962C8B-B14F-4D97-AF65-F5344CB8AC3E}">
        <p14:creationId xmlns:p14="http://schemas.microsoft.com/office/powerpoint/2010/main" val="77256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E6F19-77A6-4980-A68E-B8551CB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01 · TRANSACTION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243A7-D92C-48C6-8685-CC99462F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외부 300ms가 DB 커넥션의 서비스 시간이 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F2158-75D3-4BE6-96A4-D5A56675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DB49F-45BE-4CF5-963D-A00CDA47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BE312-721F-4D4C-9953-5080A7D0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기존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16049-E08D-42A1-A352-8B5EBB87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게시글·장소를 함께 롤백하려고 외부 검증을 트랜잭션 안에 포함했다.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CE342-B875-474C-9B24-C45F712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1174B-6CE5-446B-9540-DEFD7A0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장소 첨부 시 p95·p99가 외부 응답만큼 증가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1AE2B-19CD-4828-A3B4-11DB69D5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C11AA-B78A-415D-BFD7-1EDE1BF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16 RPS에서 p99 1.77초·dropped 8건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3489-93FC-437A-8A6F-7244180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E3F7-88D6-49CD-B956-78C79276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외부 timeout이 게시글 전체 롤백으로 전파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876B7-5C53-4497-BD37-8B2C8C84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629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Hikari 5 ÷ 0.3초 ≈ 16.7 RPS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29990-6722-433D-8C11-68685232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Little’s Law: 도착률이 처리율에 가까워지자 대기열이 비선형 증가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4e92600c04fa5"/>
          <a:stretch xmlns:a="http://schemas.openxmlformats.org/drawingml/2006/main"/>
        </p:blipFill>
        <p:spPr>
          <a:xfrm xmlns:a="http://schemas.openxmlformats.org/drawingml/2006/main">
            <a:off x="5846667" y="1504950"/>
            <a:ext cx="5604066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493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6C5D1-53DB-4A50-ADF4-6E119222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01 · COMMIT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4811C-856C-49C7-A68B-12051AA2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롤백 범위가 아니라 실패 후 남을 상태로 경계를 나눴다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B305D-3F74-4885-B80F-7C661E3A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0010E-2E37-42C2-9E95-D7339351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12E32-0A24-4711-AC4C-89C9FC4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해결 전략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4413C-4E63-450A-AFC9-FF2932E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Post를 먼저 커밋하고 장소 검증은 AFTER_COMMIT 이후 별도 경로에서 수행했다.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6f1dfe01d43c8"/>
          <a:stretch xmlns:a="http://schemas.openxmlformats.org/drawingml/2006/main"/>
        </p:blipFill>
        <p:spPr>
          <a:xfrm xmlns:a="http://schemas.openxmlformats.org/drawingml/2006/main">
            <a:off x="5865594" y="1466850"/>
            <a:ext cx="5547162" cy="4000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BF6C5-8CED-4367-924C-8C4AB741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15 → 103 RPS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CBBE1-C20C-489E-B221-14E941D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359.2 → 28.1ms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API 평균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A5434-0AAF-44EC-B730-C72F7351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338.4 → 16.4ms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TX 평균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6C8C2-E99F-49EB-A026-C220906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2190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100% / dropped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FF1E0-D1B5-4D15-8777-AD1369C4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76900"/>
            <a:ext cx="857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F9ABD-0984-4E4E-813F-D3925D1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81650"/>
            <a:ext cx="4819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@Async는 유실 없는 전달을 보장하지 않는다. 104 RPS에서 13건이 제한 시간 안에 provider에 도달하지 못해 103 RPS만 채택했다.</a:t>
            </a:r>
          </a:p>
        </p:txBody>
      </p:sp>
    </p:spTree>
    <p:extLst>
      <p:ext uri="{BB962C8B-B14F-4D97-AF65-F5344CB8AC3E}">
        <p14:creationId xmlns:p14="http://schemas.microsoft.com/office/powerpoint/2010/main" val="806172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17f870574403f"/>
          <a:stretch xmlns:a="http://schemas.openxmlformats.org/drawingml/2006/main"/>
        </p:blipFill>
        <p:spPr>
          <a:xfrm xmlns:a="http://schemas.openxmlformats.org/drawingml/2006/main">
            <a:off x="166331" y="0"/>
            <a:ext cx="1185933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64E35-30A6-4279-8095-44625806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3564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2EB4-FEEA-47DF-8F58-F982AE14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02 · IMAGE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81C4A-8C03-4F92-A4B7-10EC0B4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병렬화는 지연을 줄였고, bulkhead가 자원 전파를 제한했다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B6AA1-0BB8-446B-93AB-9C54FE45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BFAB0-328E-4424-ADDD-1A2F4CD0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582AC-9E77-4A27-9DFE-B84FA42B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동시 작업 상한 64 · 이미지 3장 · ECS app 2대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13b2cdbda1489b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10300" y="21526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6c03cf1043493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F878F-F6DD-4F67-9D70-DEDFF708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처리량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A87B9-C0B5-4F83-B0DE-41D38EA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OS thread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5D39B-98BF-41AC-B254-6082C120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304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p99 8.12s → 3.36s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1B1CC-F38B-48FE-A23C-E150B1C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Virtual Thread는 외부 작업을 빠르게 하지 않았다. 같은 처리량에서 기다림을 더 적은 OS thread로 감당했다.</a:t>
            </a:r>
          </a:p>
        </p:txBody>
      </p:sp>
    </p:spTree>
    <p:extLst>
      <p:ext uri="{BB962C8B-B14F-4D97-AF65-F5344CB8AC3E}">
        <p14:creationId xmlns:p14="http://schemas.microsoft.com/office/powerpoint/2010/main" val="362859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5D62B-0C3B-43E0-A7F2-FCD81B9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02 · PARTIAL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83921-E4CE-41C5-9491-42343D3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DB–S3 원자성 대신 복구 가능한 프로토콜을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7E54-FFE1-4E23-88E6-C1A14F68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B0E73-689C-4E55-9112-CC8DE1D3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9c80841f54864"/>
          <a:stretch xmlns:a="http://schemas.openxmlformats.org/drawingml/2006/main"/>
        </p:blipFill>
        <p:spPr>
          <a:xfrm xmlns:a="http://schemas.openxmlformats.org/drawingml/2006/main">
            <a:off x="2075949" y="1409700"/>
            <a:ext cx="8040103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719AA-820E-40F7-ADA2-8AF848A4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800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7F1B-ACBE-4641-A77C-BA9EE3F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48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실패 주입 후 잘못된 COMPLETED 참조 0건 · 고아 객체 0건 · 오래된 PENDING 0건으로 수렴</a:t>
            </a:r>
          </a:p>
        </p:txBody>
      </p:sp>
    </p:spTree>
    <p:extLst>
      <p:ext uri="{BB962C8B-B14F-4D97-AF65-F5344CB8AC3E}">
        <p14:creationId xmlns:p14="http://schemas.microsoft.com/office/powerpoint/2010/main" val="998792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F6140-19A7-4B6D-956E-85350F6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03 · VIEW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A4164-8DBB-4216-8436-07521E4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핫 row의 상한은 커넥션 수가 아니라 3.5ms commit이었다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131CB-7193-4BC8-A532-1F2D957F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1E906-DDDD-4673-B8B8-816D305D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02a4f82d54c5a"/>
          <a:stretch xmlns:a="http://schemas.openxmlformats.org/drawingml/2006/main"/>
        </p:blipFill>
        <p:spPr>
          <a:xfrm xmlns:a="http://schemas.openxmlformats.org/drawingml/2006/main">
            <a:off x="609600" y="1822937"/>
            <a:ext cx="6953250" cy="355502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4B8AF-5AD9-4720-918C-DFC4CA8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원인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B87B-44D5-4F53-A7D6-E3D7864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0FEC9-3E66-4366-812A-438D59BF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1 connection · same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77486-2671-44DC-A63D-91B9356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경합이 없어도 한 건당 약 3.5ms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45AE1-558E-43B3-9AD7-6162479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288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53420-B644-4D61-A681-5464395D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 connections · same row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917DF-8E08-485A-9E24-C79FBD61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86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줄만 길어지고 처리율은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7C016-7BE6-4A73-9839-313C15D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3,128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AE0B9-5A89-4B00-9819-2CB91AAC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 connections · different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74541-43FD-40E4-A1E6-7A14ACF2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103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group commit으로 fsync 비용 공유</a:t>
            </a:r>
          </a:p>
        </p:txBody>
      </p:sp>
    </p:spTree>
    <p:extLst>
      <p:ext uri="{BB962C8B-B14F-4D97-AF65-F5344CB8AC3E}">
        <p14:creationId xmlns:p14="http://schemas.microsoft.com/office/powerpoint/2010/main" val="1266186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f287c0bc341a4"/>
          <a:stretch xmlns:a="http://schemas.openxmlformats.org/drawingml/2006/main"/>
        </p:blipFill>
        <p:spPr>
          <a:xfrm xmlns:a="http://schemas.openxmlformats.org/drawingml/2006/main">
            <a:off x="1478456" y="0"/>
            <a:ext cx="9235089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4CD65-5C13-4B84-8E3D-3540EF07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2646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5A095-38F3-44D7-8823-B3B4AF2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03 · SOURCE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48E0E-C93C-4BF0-B12F-8F44C73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근사값은 허용해도 표시값의 역행은 허용하지 않았다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81819-F72F-4757-8C0A-D9576134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6079B-895C-4306-A99B-285FAF9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67A4-3BFF-4159-8A68-12752225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Redis 전체 카운터를 화면의 단일 원천으로 고정하고 MySQL은 GREATEST 체크포인트로 바꿨다.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64094-8DE5-4B83-AD8B-73FB8405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DCE57-11B8-4338-B3DF-29A3C53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13104-9C5E-4A5C-B871-FB9A144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66D2E-A15A-473F-93D5-902D8E59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CF440-B351-48FA-8BF8-15C9277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7B2DC-1006-472A-8198-FA0F6AA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distributed profile · 120,001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3C5C6-6A2C-441B-8F58-34FA3B5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57.3ms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88241-E041-428E-B8B5-22B1353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평균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AD44-95EA-4E55-A79E-A77BDFA2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p95 197.1ms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DFDD4-D698-4E88-A4C1-0FE4A420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686.8ms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89B26-7815-4E79-B0E2-1B36AA7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290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4D3D7-01AD-4F45-AE76-2FEC91D6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오류율 약 0.10%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54744-2BA5-43BF-86BB-A6E4C10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남는 위험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E84FE-1BCB-4B86-B1F1-ADF87D95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손실 시 마지막 체크포인트 이후 역행 가능 · 전체 순회와 Evictor 운영 비용 · 단일 핫 키 한계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24509-4655-40FA-840F-619A3534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dirty + generation과 striped counter는 실제 임계치가 확인될 때만 도입한다.</a:t>
            </a:r>
          </a:p>
        </p:txBody>
      </p:sp>
    </p:spTree>
    <p:extLst>
      <p:ext uri="{BB962C8B-B14F-4D97-AF65-F5344CB8AC3E}">
        <p14:creationId xmlns:p14="http://schemas.microsoft.com/office/powerpoint/2010/main" val="290898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EB0B-F72E-4E6A-90FF-04CF9D99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POST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698AB-A68D-499C-990A-CF1C3E2B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인덱스를 타도 OFFSET까지 읽고 버리는 비용은 남았다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21C14-6613-414F-9BC0-F5A9A62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4397D-D974-419A-AF88-9C0CDE1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41f077de045fb"/>
          <a:stretch xmlns:a="http://schemas.openxmlformats.org/drawingml/2006/main"/>
        </p:blipFill>
        <p:spPr>
          <a:xfrm xmlns:a="http://schemas.openxmlformats.org/drawingml/2006/main">
            <a:off x="1866431" y="1409700"/>
            <a:ext cx="8459138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E3C9-5586-445E-9211-093D5AB7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0.48s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8F821-8256-492A-8FCC-8957079F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62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page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CE9DF-4C41-4E89-9643-5903F110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32s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70D4A-7D60-40AA-8953-C2E64B8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62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page 20,000</a:t>
            </a:r>
          </a:p>
        </p:txBody>
      </p:sp>
    </p:spTree>
    <p:extLst>
      <p:ext uri="{BB962C8B-B14F-4D97-AF65-F5344CB8AC3E}">
        <p14:creationId xmlns:p14="http://schemas.microsoft.com/office/powerpoint/2010/main" val="4430821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B840E-7CC4-40E9-ACAD-FE368C60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LAYERED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B852-9727-42F4-9AD8-B3A65A0E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페이지 번호 UX를 유지하되 탐색 비용에 상한을 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0234-C995-4317-A6C4-3967BF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2B140-1077-44EA-91D7-8BA9FBC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F893-CAC0-4E47-92C4-996EAF98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한 기술로 덮지 않고 반복 비용과 깊은 탐색을 서로 다른 경로로 분리했다.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DC098-CE9A-4455-BD5D-1E0822A3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6D01D-EAE3-4D6E-82B9-1924048C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58AC3-8521-4D2B-A3B3-4C254DFE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5EF7"/>
          </a:solidFill>
          <a:ln xmlns:a="http://schemas.openxmlformats.org/drawingml/2006/main" w="0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EC8D1-A077-4AF5-A025-DF9F986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86"/>
          </a:solidFill>
          <a:ln xmlns:a="http://schemas.openxmlformats.org/drawingml/2006/main" w="0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9FE5F-4AF6-453E-922B-A4D8485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F00"/>
          </a:solidFill>
          <a:ln xmlns:a="http://schemas.openxmlformats.org/drawingml/2006/main" w="0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7EA80-616F-43EE-8E59-7D440C4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A296-2090-4E81-AE74-46441DD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9B0B5-4BC8-4A07-A877-BD8F68F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E5C50-3D25-406D-93DE-8E539F65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38FB0-27C8-449F-85AB-FB5CE89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커버링 인덱스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+ 지연 조인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0DBF3-5399-4432-9DBD-12B076C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페이지 블록만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상한 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D8009-CA53-4E8A-97BF-741A0C5C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상위 201 ID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Sorted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AE5BD-4DBF-4526-82A5-E06AE47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201페이지 이후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날짜 + cursor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D7F22-3A94-44AF-BFDA-121A2509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OFFSET 이동은 ID 상태로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93E1A-4E51-4709-912A-9803E0D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최대 4,001건에서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345DC-DF0C-4359-8B82-37D757AE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약 80% 반복 구간 흡수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F7BC6-B46A-4235-8A18-9A4F44F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O(offset) 경로를 제거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96C73-381E-4B3B-8578-E9D40E8E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5715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Redis 실패 → 기존 DB 경로 폴백</a:t>
            </a:r>
          </a:p>
        </p:txBody>
      </p:sp>
    </p:spTree>
    <p:extLst>
      <p:ext uri="{BB962C8B-B14F-4D97-AF65-F5344CB8AC3E}">
        <p14:creationId xmlns:p14="http://schemas.microsoft.com/office/powerpoint/2010/main" val="5715648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3E98B-5F10-4FEE-A721-F2435470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04 · EVIDENCE AND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8B42E-ED97-4B81-95B2-BB024E2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500 TPS는 검증 상한, 운영 목표는 400 TPS로 남겼다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77BF0-0065-423D-A465-F710D73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41803-FC0B-4E0B-8190-B0770EF9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02C5E-3CC4-4E9D-B536-3499C16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V3 95% + 날짜 cursor V4 5% 혼합 부하 · cache hit 약 80%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8da5f1151146f7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10300" y="2152650"/>
          <a:ext xmlns:a="http://schemas.openxmlformats.org/drawingml/2006/main" cx="4953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ad01c9bb941b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E1568-0482-457F-8E47-D1533A6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tail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71D47-8CFF-4E2A-AABC-9162F71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capacity headroom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87FED-0181-45FE-BD6C-1E7E9CB7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143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p99 173ms · 오류 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A5634-E867-4A99-A1DA-C90FF23A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62600"/>
            <a:ext cx="706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500 TPS에서도 통과했지만 DB CPU가 80%를 넘어 운영 여유가 작다. 400 TPS를 목표로 두고 500 TPS는 검증된 상한으로만 기록했다.</a:t>
            </a:r>
          </a:p>
        </p:txBody>
      </p:sp>
    </p:spTree>
    <p:extLst>
      <p:ext uri="{BB962C8B-B14F-4D97-AF65-F5344CB8AC3E}">
        <p14:creationId xmlns:p14="http://schemas.microsoft.com/office/powerpoint/2010/main" val="115618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5B660-C9A1-43E8-8A44-4D0C6D2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AEFB6-4EF6-4AA3-9A46-88E53E8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LLM Wiki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C97F1-6E32-4FC7-8BE6-05F376D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흩어진 팀 지식을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운영 가능한 자산으로 바꿨다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5152F-ADBC-47B8-95F9-B8FC76C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배준서 · Junseo Bae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Rust / MCP / Docker / Terraform /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F2B40-3AC0-47FB-A479-5701683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지식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9197-37A7-4B19-9DBB-578D26B1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권한 경계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E7CC6-FF7A-4FA7-A167-AAB38ECC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Git 내구성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5CC08-633B-411F-B8BF-DA9207D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운영 자동화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F64AC-1A9D-477C-BD22-8495F4A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99B69-1C64-4F3B-ACFF-CEAEF1B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엔진보다 운영 경계를 설계했다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13831-4D18-4BA8-A953-7D24158C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7961758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PROJECT · LLM WIKI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질의 때마다 답을 버리지 않고, ingest에서 지식을 누적했다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오픈소스 llm-wiki의 DKR 패턴을 팀 위키의 수집·검증·검색 흐름으로 연결했다.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원문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에이전트 합성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Schema 검증·색인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Git 이력으로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지식 축적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설계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원문·정규화 지식·변경 이력을 분리하되 한 저장소 계약으로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팀 플랫폼 · 2026.06–2026.08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AB6D87-7C84-4741-8AEC-8BE1F826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ARCHITECTURE · AGENT KNOWLEDGE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72E26-DCCD-4658-BA4B-17BFAC7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Rust 엔진과 운영 플랫폼의 책임을 분리했다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5B0FD-9261-42C8-950A-895B983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D8CBD-2FED-4AF3-A666-CF04049C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01AC-2F40-4739-8EEC-C60075CA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엔진은 지식 연산에 집중하고, 인증·라우팅·UI·동기화·관측은 플랫폼 경계로 분리했다.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1D374-A7A9-4510-9496-4ECE85BD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66850"/>
            <a:ext cx="16764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운영 인프라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BB44B-8EBE-42D6-B6CF-6902A5B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Agent / Slack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6826D-F09B-444B-B564-569967EE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76550"/>
            <a:ext cx="14859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Caddy / ALB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9ACC-157D-4BCD-A70D-A950622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llm-wiki MCP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Rust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E1E9-3891-43A9-8F95-8B977F4E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9526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Hugo Wiki UI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read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80CE-153D-4F2A-8BF3-C20CBDF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team-wiki-v2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Git backing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0BFDF-E04F-4E9A-8A36-D73BBF19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OTEL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local-first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9B9C0-77E6-4E3B-A934-75703528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F0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SSM Deploy Key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59F00"/>
                </a:solidFill>
                <a:latin typeface="Apple SD Gothic Neo"/>
                <a:ea typeface="Apple SD Gothic Neo"/>
                <a:cs typeface="Apple SD Gothic Neo"/>
              </a:rPr>
              <a:t>repo-scoped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609FE-0826-4FB7-9816-BCF9170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71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Hermes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Gateway</a:t>
            </a:r>
          </a:p>
        </p:txBody>
      </p: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24100" y="33528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8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4267200" y="2667000"/>
            <a:ext cx="4953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267200" y="3352800"/>
            <a:ext cx="49530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2667000"/>
            <a:ext cx="714375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4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6715125" y="2667000"/>
            <a:ext cx="2905125" cy="1666875"/>
          </a:xfrm>
          <a:prstGeom xmlns:a="http://schemas.openxmlformats.org/drawingml/2006/main" prst="bentConnector5">
            <a:avLst>
              <a:gd name="adj1" fmla="val 7869"/>
              <a:gd name="adj2" fmla="val 35429"/>
              <a:gd name="adj3" fmla="val 79344"/>
            </a:avLst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cxnSp>
        <p:nvCxnSpPr>
          <p:cNvPr id="9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715125" y="2476500"/>
            <a:ext cx="714375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45EF7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15125" y="4152900"/>
            <a:ext cx="71437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64980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6715125" y="2476500"/>
            <a:ext cx="2905125" cy="1676400"/>
          </a:xfrm>
          <a:prstGeom xmlns:a="http://schemas.openxmlformats.org/drawingml/2006/main" prst="bentConnector5">
            <a:avLst>
              <a:gd name="adj1" fmla="val 20656"/>
              <a:gd name="adj2" fmla="val 64773"/>
              <a:gd name="adj3" fmla="val 92131"/>
            </a:avLst>
          </a:prstGeom>
          <a:ln xmlns:a="http://schemas.openxmlformats.org/drawingml/2006/main" w="19050">
            <a:solidFill>
              <a:srgbClr val="F59F00"/>
            </a:solidFill>
            <a:prstDash val="dash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4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 flipV="1">
            <a:off x="6715125" y="3743325"/>
            <a:ext cx="2905125" cy="590550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667085"/>
            </a:solidFill>
            <a:prstDash val="dash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A4274B-E3C5-48C1-A6ED-A11ED9AD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단일 엔진 · 공유 wiki-data 볼륨 · 인증 프록시 · Git backing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7EFE2-8193-41E3-AEFD-CC6E6C9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업스트림 엔진 교체와 플랫폼 운영을 독립적으로 변경할 수 있게 했다.</a:t>
            </a:r>
          </a:p>
        </p:txBody>
      </p:sp>
    </p:spTree>
    <p:extLst>
      <p:ext uri="{BB962C8B-B14F-4D97-AF65-F5344CB8AC3E}">
        <p14:creationId xmlns:p14="http://schemas.microsoft.com/office/powerpoint/2010/main" val="7725642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464EF-2706-4F82-A360-2944E82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01 · MCP TOOL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EF60-252A-451C-9937-F128DE5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도구는 연결보다 권한 경계가 먼저였다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2B5CC-B789-4F03-A5AF-6F12A48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2E928-2BE3-44B6-BEB1-2364E2C5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60F5D-44D5-4E9B-8E19-888CE607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실패 비용에 따라 자동 허용·사람 승인·기본 차단으로 계약했다.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D4E11-BF3F-4546-8396-21315BAA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C72A3-5532-4DAA-9B8B-C5B8AD2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64B53-6060-42B9-9FC6-224F08B2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4A97A-FD4C-4D72-B14A-0D464B3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ALLOW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9C08F-9283-4BC1-9913-DB3536F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읽기·검색 자동 허용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43CE4-857E-4CE2-8EC9-D5DC4F26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wiki_search · wiki_content_read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D1E65-F2FC-4ACD-BAC8-7AD3293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A0D27-F3E6-472D-B111-F3D1169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쓰기·ingest 사람 승인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3C1B5-C5A3-4F36-91D5-B38A2F7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wiki_content_write · wiki_ingest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D9C25-3415-4525-983E-ABECFF3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DENY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2AA37-9FBC-44C6-AA41-6775C400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공간·설정 변경 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45EB-FE51-4D84-90E6-E677BE4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미분류 도구도 default-deny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7D720-E0FE-4823-8F8D-14062E4D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44448-9C35-4360-8C37-BB942F6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레지스트리 SSOT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6E33E-5A01-415A-9CDA-2C4ADBC2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14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Bearer 인증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5B24C-C7B8-463C-9EB6-2E9C6E8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149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Secret reference만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C206-B07C-4927-8A8C-4B036FF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n8n 비활성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8537F-E75E-4F78-827C-2FFADA3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새 MCP 서버가 추가돼도 같은 allow / approve / deny 경계를 적용</a:t>
            </a:r>
          </a:p>
        </p:txBody>
      </p:sp>
    </p:spTree>
    <p:extLst>
      <p:ext uri="{BB962C8B-B14F-4D97-AF65-F5344CB8AC3E}">
        <p14:creationId xmlns:p14="http://schemas.microsoft.com/office/powerpoint/2010/main" val="4724286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2FF3-BDA5-4254-994D-122885CC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CASE 02 · GIT DURABILITY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C56E9-7CE2-4DCF-94A1-A7B79D5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push 실패가 서비스 중단이나 지식 유실로 번지지 않게 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94191-2023-45E1-9216-2BC5A4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F1B07-3805-4A59-A561-FBB1C82D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EBB93-5B80-4CC8-A37A-D9E5CEBF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MCP 쓰기와 원격 Git 동기화를 분리하고, 실패한 커밋은 다음 주기까지 로컬에 남겼다.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8B40-274F-4CB1-B019-C6C110D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MCP 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CC3CB-D033-4B2F-8E41-36ACEB85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wiki-data 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419F-360C-40F5-9D4D-672BEC8D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2860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sidecar commit·rebase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517E-9622-4D86-A80A-A34FBC2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962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0F5"/>
          </a:solidFill>
          <a:ln xmlns:a="http://schemas.openxmlformats.org/drawingml/2006/main" w="9525">
            <a:solidFill>
              <a:srgbClr val="E64980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team-wiki-v2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실패 시 로컬 보존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115050" y="32956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20200" y="3295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67537-6A80-4585-B994-BE2D3D92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복구 경계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75F05-EAF4-4317-96DC-E3A655F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origin 멱등 설정 · 충돌 cycle skip · clean tree의 미push commit도 재시도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7B4D5-F5E5-4908-8639-BB25AF41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named volume + compose sidecar · 기본 120초 주기</a:t>
            </a:r>
          </a:p>
        </p:txBody>
      </p:sp>
    </p:spTree>
    <p:extLst>
      <p:ext uri="{BB962C8B-B14F-4D97-AF65-F5344CB8AC3E}">
        <p14:creationId xmlns:p14="http://schemas.microsoft.com/office/powerpoint/2010/main" val="7911793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2CAB0-D9AB-474B-85BB-4EF0DFD9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BACKEND ENGINEER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5C23B-69B3-4FDF-9A3A-D032948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경계를 바꾸고,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운영 가능한 구조를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F928-601E-41BA-ABE0-852B771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239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A579F-2F81-404D-809C-0FAF94C6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성공 기준과 원본 경계를 먼저 고정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F1589-871C-4905-A038-F40AE4F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0FF"/>
          </a:solidFill>
          <a:ln xmlns:a="http://schemas.openxmlformats.org/drawingml/2006/main" w="9525">
            <a:solidFill>
              <a:srgbClr val="845EF7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845EF7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FA28-3E6F-41C4-9D19-0F22B225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실패 전파·권한·동기화 비용을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8DD6A-4B94-470B-915E-D2A793D9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57550"/>
            <a:ext cx="685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8F1"/>
          </a:solidFill>
          <a:ln xmlns:a="http://schemas.openxmlformats.org/drawingml/2006/main" w="9525">
            <a:solidFill>
              <a:srgbClr val="12B886"/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B88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4CCCF-A994-4919-AC7A-E1A6E34F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남는 위험을 로그·테스트·런북으로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AB9F3-964C-4389-8887-63E4F57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8AD5F-C34B-47FF-8180-316B1E4B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4980"/>
                </a:solidFill>
                <a:latin typeface="Apple SD Gothic Neo"/>
                <a:ea typeface="Apple SD Gothic Neo"/>
                <a:cs typeface="Apple SD Gothic Neo"/>
              </a:rPr>
              <a:t>다음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01F3D-30D1-4DE9-AE87-433F3A33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LLM Wiki ingest 품질 지표 · Git 백업 RTO/RPO · 쓰기 승인 흐름 자동화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E01FF-DA08-45FD-B19D-F35E052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828"/>
                </a:solidFill>
                <a:latin typeface="Apple SD Gothic Neo"/>
                <a:ea typeface="Apple SD Gothic Neo"/>
                <a:cs typeface="Apple SD Gothic Neo"/>
              </a:rPr>
              <a:t>배준서 Junseo Bae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FD934-974A-44FE-9207-71C9BBD9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bjs7378@naver.com  ·  github.com/bebeis  ·  velog.io/@bebeis/posts</a:t>
            </a:r>
          </a:p>
        </p:txBody>
      </p:sp>
    </p:spTree>
    <p:extLst>
      <p:ext uri="{BB962C8B-B14F-4D97-AF65-F5344CB8AC3E}">
        <p14:creationId xmlns:p14="http://schemas.microsoft.com/office/powerpoint/2010/main" val="1768159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2026-08-17T14:18:10.4970000Z</dcterms:created>
  <dcterms:modified xsi:type="dcterms:W3CDTF">2026-08-17T14:18:10.4970000Z</dcterms:modified>
</coreProperties>
</file>