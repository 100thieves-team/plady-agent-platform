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46d1c79bd44535" /><Relationship Type="http://schemas.openxmlformats.org/officeDocument/2006/relationships/extended-properties" Target="/docProps/app.xml" Id="R8298678c4e024af2" /><Relationship Type="http://schemas.openxmlformats.org/officeDocument/2006/relationships/officeDocument" Target="/ppt/presentation.xml" Id="R9a6bb0d854c34d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6063216f304d63"/>
  </p:sldMasterIdLst>
  <p:notesMasterIdLst>
    <p:notesMasterId xmlns:r="http://schemas.openxmlformats.org/officeDocument/2006/relationships" r:id="R1c7085ea8c934ccb"/>
  </p:notesMasterIdLst>
  <p:sldIdLst>
    <p:sldId xmlns:r="http://schemas.openxmlformats.org/officeDocument/2006/relationships" id="256" r:id="Rd1470276fccc47c4"/>
    <p:sldId xmlns:r="http://schemas.openxmlformats.org/officeDocument/2006/relationships" id="257" r:id="R3f1cc0bcd8974ed8"/>
    <p:sldId xmlns:r="http://schemas.openxmlformats.org/officeDocument/2006/relationships" id="258" r:id="R188f49d0bb994a3c"/>
    <p:sldId xmlns:r="http://schemas.openxmlformats.org/officeDocument/2006/relationships" id="259" r:id="R15928176e6cd46b4"/>
    <p:sldId xmlns:r="http://schemas.openxmlformats.org/officeDocument/2006/relationships" id="260" r:id="R5c61527b963f453e"/>
    <p:sldId xmlns:r="http://schemas.openxmlformats.org/officeDocument/2006/relationships" id="261" r:id="R604d84e8085a4234"/>
    <p:sldId xmlns:r="http://schemas.openxmlformats.org/officeDocument/2006/relationships" id="262" r:id="R7bf11cadc3c74cb1"/>
    <p:sldId xmlns:r="http://schemas.openxmlformats.org/officeDocument/2006/relationships" id="263" r:id="Rba332d80365343c6"/>
    <p:sldId xmlns:r="http://schemas.openxmlformats.org/officeDocument/2006/relationships" id="264" r:id="R153d39efb22840ba"/>
    <p:sldId xmlns:r="http://schemas.openxmlformats.org/officeDocument/2006/relationships" id="265" r:id="R10b2b54d766140c8"/>
    <p:sldId xmlns:r="http://schemas.openxmlformats.org/officeDocument/2006/relationships" id="266" r:id="Rd8e33796875f4445"/>
    <p:sldId xmlns:r="http://schemas.openxmlformats.org/officeDocument/2006/relationships" id="267" r:id="Rdc49652e17814e69"/>
    <p:sldId xmlns:r="http://schemas.openxmlformats.org/officeDocument/2006/relationships" id="268" r:id="Rb9e54cbf413a4580"/>
    <p:sldId xmlns:r="http://schemas.openxmlformats.org/officeDocument/2006/relationships" id="269" r:id="R0249e03183664a6d"/>
    <p:sldId xmlns:r="http://schemas.openxmlformats.org/officeDocument/2006/relationships" id="270" r:id="R8483c60fa75f4f18"/>
    <p:sldId xmlns:r="http://schemas.openxmlformats.org/officeDocument/2006/relationships" id="271" r:id="Rd225bddbc6c74cc3"/>
    <p:sldId xmlns:r="http://schemas.openxmlformats.org/officeDocument/2006/relationships" id="272" r:id="R14fa1c48e7574c63"/>
    <p:sldId xmlns:r="http://schemas.openxmlformats.org/officeDocument/2006/relationships" id="273" r:id="Rbe529f8c58e5421b"/>
    <p:sldId xmlns:r="http://schemas.openxmlformats.org/officeDocument/2006/relationships" id="274" r:id="Rdf1081e9e9cf4d9c"/>
    <p:sldId xmlns:r="http://schemas.openxmlformats.org/officeDocument/2006/relationships" id="275" r:id="R36c1a628f588445b"/>
    <p:sldId xmlns:r="http://schemas.openxmlformats.org/officeDocument/2006/relationships" id="276" r:id="Rcfa043a1f59f4e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586e98b01f4d45" /><Relationship Type="http://schemas.openxmlformats.org/officeDocument/2006/relationships/slideMaster" Target="/ppt/slideMasters/slideMaster1.xml" Id="R696063216f304d63" /><Relationship Type="http://schemas.openxmlformats.org/officeDocument/2006/relationships/notesMaster" Target="/ppt/notesMasters/notesMaster1.xml" Id="R1c7085ea8c934ccb" /><Relationship Type="http://schemas.openxmlformats.org/officeDocument/2006/relationships/presProps" Target="/ppt/presProps.xml" Id="Raa2b141c2b2d4180" /><Relationship Type="http://schemas.openxmlformats.org/officeDocument/2006/relationships/tableStyles" Target="/ppt/tableStyles.xml" Id="R67eb7c55828349e4" /><Relationship Type="http://schemas.openxmlformats.org/officeDocument/2006/relationships/slide" Target="/ppt/slides/slide1.xml" Id="Rd1470276fccc47c4" /><Relationship Type="http://schemas.openxmlformats.org/officeDocument/2006/relationships/slide" Target="/ppt/slides/slide2.xml" Id="R3f1cc0bcd8974ed8" /><Relationship Type="http://schemas.openxmlformats.org/officeDocument/2006/relationships/slide" Target="/ppt/slides/slide3.xml" Id="R188f49d0bb994a3c" /><Relationship Type="http://schemas.openxmlformats.org/officeDocument/2006/relationships/slide" Target="/ppt/slides/slide4.xml" Id="R15928176e6cd46b4" /><Relationship Type="http://schemas.openxmlformats.org/officeDocument/2006/relationships/slide" Target="/ppt/slides/slide5.xml" Id="R5c61527b963f453e" /><Relationship Type="http://schemas.openxmlformats.org/officeDocument/2006/relationships/slide" Target="/ppt/slides/slide6.xml" Id="R604d84e8085a4234" /><Relationship Type="http://schemas.openxmlformats.org/officeDocument/2006/relationships/slide" Target="/ppt/slides/slide7.xml" Id="R7bf11cadc3c74cb1" /><Relationship Type="http://schemas.openxmlformats.org/officeDocument/2006/relationships/slide" Target="/ppt/slides/slide8.xml" Id="Rba332d80365343c6" /><Relationship Type="http://schemas.openxmlformats.org/officeDocument/2006/relationships/slide" Target="/ppt/slides/slide9.xml" Id="R153d39efb22840ba" /><Relationship Type="http://schemas.openxmlformats.org/officeDocument/2006/relationships/slide" Target="/ppt/slides/slide10.xml" Id="R10b2b54d766140c8" /><Relationship Type="http://schemas.openxmlformats.org/officeDocument/2006/relationships/slide" Target="/ppt/slides/slide11.xml" Id="Rd8e33796875f4445" /><Relationship Type="http://schemas.openxmlformats.org/officeDocument/2006/relationships/slide" Target="/ppt/slides/slide12.xml" Id="Rdc49652e17814e69" /><Relationship Type="http://schemas.openxmlformats.org/officeDocument/2006/relationships/slide" Target="/ppt/slides/slide13.xml" Id="Rb9e54cbf413a4580" /><Relationship Type="http://schemas.openxmlformats.org/officeDocument/2006/relationships/slide" Target="/ppt/slides/slide14.xml" Id="R0249e03183664a6d" /><Relationship Type="http://schemas.openxmlformats.org/officeDocument/2006/relationships/slide" Target="/ppt/slides/slide15.xml" Id="R8483c60fa75f4f18" /><Relationship Type="http://schemas.openxmlformats.org/officeDocument/2006/relationships/slide" Target="/ppt/slides/slide16.xml" Id="Rd225bddbc6c74cc3" /><Relationship Type="http://schemas.openxmlformats.org/officeDocument/2006/relationships/slide" Target="/ppt/slides/slide17.xml" Id="R14fa1c48e7574c63" /><Relationship Type="http://schemas.openxmlformats.org/officeDocument/2006/relationships/slide" Target="/ppt/slides/slide18.xml" Id="Rbe529f8c58e5421b" /><Relationship Type="http://schemas.openxmlformats.org/officeDocument/2006/relationships/slide" Target="/ppt/slides/slide19.xml" Id="Rdf1081e9e9cf4d9c" /><Relationship Type="http://schemas.openxmlformats.org/officeDocument/2006/relationships/slide" Target="/ppt/slides/slide20.xml" Id="R36c1a628f588445b" /><Relationship Type="http://schemas.openxmlformats.org/officeDocument/2006/relationships/slide" Target="/ppt/slides/slide21.xml" Id="Rcfa043a1f59f4e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1d94bcc6754d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b788bd4705488a" /><Relationship Type="http://schemas.openxmlformats.org/officeDocument/2006/relationships/notesMaster" Target="/ppt/notesMasters/notesMaster1.xml" Id="R2950f131401d49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d9509722be4987" /><Relationship Type="http://schemas.openxmlformats.org/officeDocument/2006/relationships/notesMaster" Target="/ppt/notesMasters/notesMaster1.xml" Id="R4922914fb2ae4c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ab7add060c44dd" /><Relationship Type="http://schemas.openxmlformats.org/officeDocument/2006/relationships/notesMaster" Target="/ppt/notesMasters/notesMaster1.xml" Id="Rcf824574fa6543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0d8d1cbaad41b2" /><Relationship Type="http://schemas.openxmlformats.org/officeDocument/2006/relationships/notesMaster" Target="/ppt/notesMasters/notesMaster1.xml" Id="R64e257a7911642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33f7ef15264cc8" /><Relationship Type="http://schemas.openxmlformats.org/officeDocument/2006/relationships/notesMaster" Target="/ppt/notesMasters/notesMaster1.xml" Id="R841a2e6ad62d4c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c744ef29574551" /><Relationship Type="http://schemas.openxmlformats.org/officeDocument/2006/relationships/notesMaster" Target="/ppt/notesMasters/notesMaster1.xml" Id="R10fdf91591664b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04a4d01ff84e48" /><Relationship Type="http://schemas.openxmlformats.org/officeDocument/2006/relationships/notesMaster" Target="/ppt/notesMasters/notesMaster1.xml" Id="R0ca5f7ef5dfb4a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c2ab030fb94b66" /><Relationship Type="http://schemas.openxmlformats.org/officeDocument/2006/relationships/notesMaster" Target="/ppt/notesMasters/notesMaster1.xml" Id="R05befb4231694b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148f6336be4bff" /><Relationship Type="http://schemas.openxmlformats.org/officeDocument/2006/relationships/notesMaster" Target="/ppt/notesMasters/notesMaster1.xml" Id="Rf6c9feb8ac9440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7158dd3de14a74" /><Relationship Type="http://schemas.openxmlformats.org/officeDocument/2006/relationships/notesMaster" Target="/ppt/notesMasters/notesMaster1.xml" Id="R9ca765e590d447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41bc06cfc94059" /><Relationship Type="http://schemas.openxmlformats.org/officeDocument/2006/relationships/notesMaster" Target="/ppt/notesMasters/notesMaster1.xml" Id="Rd727859508ed4a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19523d113e458c" /><Relationship Type="http://schemas.openxmlformats.org/officeDocument/2006/relationships/notesMaster" Target="/ppt/notesMasters/notesMaster1.xml" Id="R344994ef89e14d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966975122c48bf" /><Relationship Type="http://schemas.openxmlformats.org/officeDocument/2006/relationships/notesMaster" Target="/ppt/notesMasters/notesMaster1.xml" Id="R92dfb4b9ac8c44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2a10e182744208" /><Relationship Type="http://schemas.openxmlformats.org/officeDocument/2006/relationships/notesMaster" Target="/ppt/notesMasters/notesMaster1.xml" Id="Ra976c179e92240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15d5c0b01045bb" /><Relationship Type="http://schemas.openxmlformats.org/officeDocument/2006/relationships/notesMaster" Target="/ppt/notesMasters/notesMaster1.xml" Id="Re6306e2dfb9945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8a849deb7d48ea" /><Relationship Type="http://schemas.openxmlformats.org/officeDocument/2006/relationships/notesMaster" Target="/ppt/notesMasters/notesMaster1.xml" Id="Rfe24b9fe7f424c3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bd50ac84df407e" /><Relationship Type="http://schemas.openxmlformats.org/officeDocument/2006/relationships/notesMaster" Target="/ppt/notesMasters/notesMaster1.xml" Id="R8d240c4aa7474f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e50505572934e45" /><Relationship Type="http://schemas.openxmlformats.org/officeDocument/2006/relationships/notesMaster" Target="/ppt/notesMasters/notesMaster1.xml" Id="Re9e1982524c74bc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8a62539353440be" /><Relationship Type="http://schemas.openxmlformats.org/officeDocument/2006/relationships/notesMaster" Target="/ppt/notesMasters/notesMaster1.xml" Id="R894759fd1add48c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44137b8807a4f34" /><Relationship Type="http://schemas.openxmlformats.org/officeDocument/2006/relationships/notesMaster" Target="/ppt/notesMasters/notesMaster1.xml" Id="R65d95c0028eb485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296ce7235b54125" /><Relationship Type="http://schemas.openxmlformats.org/officeDocument/2006/relationships/notesMaster" Target="/ppt/notesMasters/notesMaster1.xml" Id="Re3518c1eded24e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text: /Users/luna/.codex/attachments/a79e3c1a-46ab-4cac-93d8-d9598d50b1c2/pasted-text.txt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/Users/luna/Desktop_nonsync/project/cluverse-api/docs/blog/01-cluverse-소개-배경-목표.md</a:t>
            </a:r>
          </a:p>
          <a:p xmlns:a="http://schemas.openxmlformats.org/drawingml/2006/main">
            <a:r>
              <a:t>- https://velog.io/@bebeis/cluvserse-start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/Users/luna/Desktop_nonsync/project/cluverse-api/docs/blog/cluverse-devlog-10-전반적인 성능 개선.md</a:t>
            </a:r>
          </a:p>
          <a:p xmlns:a="http://schemas.openxmlformats.org/drawingml/2006/main">
            <a:r>
              <a:t>- /Users/luna/Desktop_nonsync/project/cluverse-api/docs/blog/cluverse-devlog-8-대학생-현지인-로컬맵.md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/Users/luna/Desktop_nonsync/project/cluverse-api/terraform/README.md</a:t>
            </a:r>
          </a:p>
          <a:p xmlns:a="http://schemas.openxmlformats.org/drawingml/2006/main">
            <a:r>
              <a:t>- /Users/luna/Desktop_nonsync/project/cluverse-api/terraform/test/ecs.tf</a:t>
            </a:r>
          </a:p>
          <a:p xmlns:a="http://schemas.openxmlformats.org/drawingml/2006/main">
            <a:r>
              <a:t>- /Users/luna/Desktop_nonsync/project/cluverse-api/terraform/test/mysql.tf</a:t>
            </a:r>
          </a:p>
          <a:p xmlns:a="http://schemas.openxmlformats.org/drawingml/2006/main">
            <a:r>
              <a:t>- /Users/luna/Desktop_nonsync/project/cluverse-api/terraform/test/redis.tf</a:t>
            </a:r>
          </a:p>
          <a:p xmlns:a="http://schemas.openxmlformats.org/drawingml/2006/main">
            <a:r>
              <a:t>- /Users/luna/Desktop_nonsync/project/cluverse-api/terraform/test/monitoring.tf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/Users/luna/Desktop_nonsync/project/cluverse-api/docs/blog/cluverse-devlog-8-대학생-현지인-로컬맵.md</a:t>
            </a:r>
          </a:p>
          <a:p xmlns:a="http://schemas.openxmlformats.org/drawingml/2006/main">
            <a:r>
              <a:t>- /Users/luna/Desktop_nonsync/project/cluverse-api/docs/blog/assets/devlog-8/place-save-before.drawio.png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/Users/luna/Desktop_nonsync/project/cluverse-api/docs/blog/cluverse-devlog-8-대학생-현지인-로컬맵.md</a:t>
            </a:r>
          </a:p>
          <a:p xmlns:a="http://schemas.openxmlformats.org/drawingml/2006/main">
            <a:r>
              <a:t>- /Users/luna/Desktop_nonsync/project/cluverse-api/docs/blog/assets/devlog-8/place-save-after.drawio.png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/Users/luna/Desktop_nonsync/project/cluverse-api/docs/blog/cluverse-devlog-11-이미지 업로드.md</a:t>
            </a:r>
          </a:p>
          <a:p xmlns:a="http://schemas.openxmlformats.org/drawingml/2006/main">
            <a:r>
              <a:t>- /Users/luna/Desktop_nonsync/project/cluverse-api/docs/blog/assets/devlog-11/image-upload-sync-lambda-architecture.png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/Users/luna/Desktop_nonsync/project/cluverse-api/docs/blog/cluverse-devlog-11-이미지 업로드.md</a:t>
            </a:r>
          </a:p>
          <a:p xmlns:a="http://schemas.openxmlformats.org/drawingml/2006/main">
            <a:r>
              <a:t>- Measured table: V1 16.09 req/s, V2 32.71 req/s, V3 33.24 req/s; platform thread max 75/151/87; p99 8,120.7/3,581.1/3,358.1ms.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/Users/luna/Desktop_nonsync/project/cluverse-api/docs/blog/cluverse-devlog-11-이미지 업로드.md</a:t>
            </a:r>
          </a:p>
          <a:p xmlns:a="http://schemas.openxmlformats.org/drawingml/2006/main">
            <a:r>
              <a:t>- /Users/luna/Desktop_nonsync/project/cluverse-api/docs/blog/assets/devlog-11/db-s3-compensation-flow.drawio.png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/Users/luna/Desktop_nonsync/project/cluverse-api/docs/blog/cluverse-devlog-4-게시글-조회수-설계-V3.md</a:t>
            </a:r>
          </a:p>
          <a:p xmlns:a="http://schemas.openxmlformats.org/drawingml/2006/main">
            <a:r>
              <a:t>- /Users/luna/Desktop_nonsync/project/cluverse-api/docs/blog/assets/devlog-4/hot-row-connection-queue.drawio.png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/Users/luna/Desktop_nonsync/project/cluverse-api/docs/blog/cluverse-devlog-5-조회수 어뷰징 방지와 Redis Write-back.md</a:t>
            </a:r>
          </a:p>
          <a:p xmlns:a="http://schemas.openxmlformats.org/drawingml/2006/main">
            <a:r>
              <a:t>- /Users/luna/Desktop_nonsync/project/cluverse-api/docs/blog/assets/devlog-5/full-counter-redis-coordination.png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/Users/luna/Desktop_nonsync/project/cluverse-api/script/view-count/results/raw/20260806-112406-bench-v4-distributed-summary.json</a:t>
            </a:r>
          </a:p>
          <a:p xmlns:a="http://schemas.openxmlformats.org/drawingml/2006/main">
            <a:r>
              <a:t>- /Users/luna/Desktop_nonsync/project/cluverse-api/script/view-count/results/metrics.csv</a:t>
            </a:r>
          </a:p>
          <a:p xmlns:a="http://schemas.openxmlformats.org/drawingml/2006/main">
            <a:r>
              <a:t>- /Users/luna/Desktop_nonsync/project/cluverse-api/docs/blog/cluverse-devlog-5-조회수 어뷰징 방지와 Redis Write-back.md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/Users/luna/Desktop_nonsync/project/cluverse-api/docs/blog/cluverse-devlog-3-게시글-목록-조회.md</a:t>
            </a:r>
          </a:p>
          <a:p xmlns:a="http://schemas.openxmlformats.org/drawingml/2006/main">
            <a:r>
              <a:t>- /Users/luna/Desktop_nonsync/project/cluverse-api/docs/blog/assets/devlog-3/offset-vs-late-join.drawio.png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/Users/luna/Desktop_nonsync/project/cluverse-api/docs/blog/cluverse-devlog-3-게시글-목록-조회.md</a:t>
            </a:r>
          </a:p>
          <a:p xmlns:a="http://schemas.openxmlformats.org/drawingml/2006/main">
            <a:r>
              <a:t>- /Users/luna/Desktop_nonsync/project/cluverse-api/docs/blog/assets/devlog-3/date-anchor-cursor.drawio.png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/Users/luna/Desktop_nonsync/project/cluverse-api/docs/blog/cluverse-devlog-3-게시글-목록-조회.md</a:t>
            </a:r>
          </a:p>
          <a:p xmlns:a="http://schemas.openxmlformats.org/drawingml/2006/main">
            <a:r>
              <a:t>- Measured table: 300/400/500 RPS, p99 62.92/195.58/173.00ms, DB CPU avg 47.64/64.09/80.53%, cache hit 79.94/80.11/79.91%.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text: /Users/luna/.codex/attachments/a79e3c1a-46ab-4cac-93d8-d9598d50b1c2/pasted-text.txt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/Users/luna/Desktop_nonsync/project/cluverse-api/docs/blog/01-cluverse-소개-배경-목표.md</a:t>
            </a:r>
          </a:p>
          <a:p xmlns:a="http://schemas.openxmlformats.org/drawingml/2006/main">
            <a:r>
              <a:t>- https://velog.io/@bebeis/cluvserse-start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/Users/luna/Desktop_nonsync/project/cluverse-api/terraform/README.md</a:t>
            </a:r>
          </a:p>
          <a:p xmlns:a="http://schemas.openxmlformats.org/drawingml/2006/main">
            <a:r>
              <a:t>- /Users/luna/Desktop_nonsync/project/cluverse-api/terraform/test/ecs.tf</a:t>
            </a:r>
          </a:p>
          <a:p xmlns:a="http://schemas.openxmlformats.org/drawingml/2006/main">
            <a:r>
              <a:t>- /Users/luna/Desktop_nonsync/project/cluverse-api/terraform/test/mysql.tf</a:t>
            </a:r>
          </a:p>
          <a:p xmlns:a="http://schemas.openxmlformats.org/drawingml/2006/main">
            <a:r>
              <a:t>- /Users/luna/Desktop_nonsync/project/cluverse-api/terraform/test/redis.tf</a:t>
            </a:r>
          </a:p>
          <a:p xmlns:a="http://schemas.openxmlformats.org/drawingml/2006/main">
            <a:r>
              <a:t>- /Users/luna/Desktop_nonsync/project/cluverse-api/terraform/test/monitoring.tf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/Users/luna/Desktop_nonsync/project/cluverse-api/docs/blog/cluverse-devlog-10-전반적인 성능 개선.md</a:t>
            </a:r>
          </a:p>
          <a:p xmlns:a="http://schemas.openxmlformats.org/drawingml/2006/main">
            <a:r>
              <a:t>- /Users/luna/Desktop_nonsync/project/cluverse-api/docs/blog/cluverse-devlog-8-대학생-현지인-로컬맵.md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/Users/luna/Desktop_nonsync/project/cluverse-api/docs/blog/01-cluverse-소개-배경-목표.md</a:t>
            </a:r>
          </a:p>
          <a:p xmlns:a="http://schemas.openxmlformats.org/drawingml/2006/main">
            <a:r>
              <a:t>- https://velog.io/@bebeis/cluvserse-start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text: /Users/luna/.codex/attachments/a79e3c1a-46ab-4cac-93d8-d9598d50b1c2/pasted-text.txt</a:t>
            </a:r>
          </a:p>
          <a:p xmlns:a="http://schemas.openxmlformats.org/drawingml/2006/main">
            <a:r>
              <a:t>- /Users/luna/Desktop_nonsync/project/cluverse-api/docs/blog/cluverse-devlog-8-대학생-현지인-로컬맵.md</a:t>
            </a:r>
          </a:p>
          <a:p xmlns:a="http://schemas.openxmlformats.org/drawingml/2006/main">
            <a:r>
              <a:t>- /Users/luna/Desktop_nonsync/project/cluverse-api/docs/blog/cluverse-devlog-11-이미지 업로드.md</a:t>
            </a:r>
          </a:p>
          <a:p xmlns:a="http://schemas.openxmlformats.org/drawingml/2006/main">
            <a:r>
              <a:t>- /Users/luna/Desktop_nonsync/project/cluverse-api/docs/blog/cluverse-devlog-5-조회수 어뷰징 방지와 Redis Write-back.md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5b01b528b845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55aaba288747e3" /><Relationship Type="http://schemas.openxmlformats.org/officeDocument/2006/relationships/slideLayout" Target="/ppt/slideLayouts/slideLayout1.xml" Id="R4797a1f289a843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97a1f289a843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edafdb4f44d5d" /><Relationship Type="http://schemas.openxmlformats.org/officeDocument/2006/relationships/notesSlide" Target="/ppt/notesSlides/notesSlide1.xml" Id="R1f712626d10b43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1933b31c5485f" /><Relationship Type="http://schemas.openxmlformats.org/officeDocument/2006/relationships/notesSlide" Target="/ppt/notesSlides/notesSlide2.xml" Id="R41d9817771c647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1f9e03efb4d4e" /><Relationship Type="http://schemas.openxmlformats.org/officeDocument/2006/relationships/notesSlide" Target="/ppt/notesSlides/notesSlide3.xml" Id="Rc339ee2a526440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77bd219fe4832" /><Relationship Type="http://schemas.openxmlformats.org/officeDocument/2006/relationships/notesSlide" Target="/ppt/notesSlides/notesSlide4.xml" Id="R4aa98ce8245041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29352afce46bc" /><Relationship Type="http://schemas.openxmlformats.org/officeDocument/2006/relationships/image" Target="/ppt/media/image.png" Id="Rf7d728f527dc46c4" /><Relationship Type="http://schemas.openxmlformats.org/officeDocument/2006/relationships/notesSlide" Target="/ppt/notesSlides/notesSlide5.xml" Id="R71201100f64244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54d0ded574499" /><Relationship Type="http://schemas.openxmlformats.org/officeDocument/2006/relationships/image" Target="/ppt/media/image2.png" Id="Rbc3b9da0d39c4aad" /><Relationship Type="http://schemas.openxmlformats.org/officeDocument/2006/relationships/notesSlide" Target="/ppt/notesSlides/notesSlide6.xml" Id="Rddda802c76d74f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63042cb6544c2" /><Relationship Type="http://schemas.openxmlformats.org/officeDocument/2006/relationships/image" Target="/ppt/media/image3.png" Id="Rac6243e30c694454" /><Relationship Type="http://schemas.openxmlformats.org/officeDocument/2006/relationships/notesSlide" Target="/ppt/notesSlides/notesSlide7.xml" Id="R108ab47f7ede4a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4dd18f87d4397" /><Relationship Type="http://schemas.openxmlformats.org/officeDocument/2006/relationships/chart" Target="/ppt/slides/charts/chart1.xml" Id="R8e67777a91224f7d" /><Relationship Type="http://schemas.openxmlformats.org/officeDocument/2006/relationships/chart" Target="/ppt/slides/charts/chart2.xml" Id="R1fd9c1c993b04158" /><Relationship Type="http://schemas.openxmlformats.org/officeDocument/2006/relationships/notesSlide" Target="/ppt/notesSlides/notesSlide8.xml" Id="Rf12887807c174f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cacc337e648f9" /><Relationship Type="http://schemas.openxmlformats.org/officeDocument/2006/relationships/image" Target="/ppt/media/image4.png" Id="R5d8cff73ab814fca" /><Relationship Type="http://schemas.openxmlformats.org/officeDocument/2006/relationships/notesSlide" Target="/ppt/notesSlides/notesSlide9.xml" Id="R1505a7b4cfbf49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8aaf6c68748e6" /><Relationship Type="http://schemas.openxmlformats.org/officeDocument/2006/relationships/image" Target="/ppt/media/image5.png" Id="R3705987ba0b0483b" /><Relationship Type="http://schemas.openxmlformats.org/officeDocument/2006/relationships/notesSlide" Target="/ppt/notesSlides/notesSlide10.xml" Id="Rc9f1387bc6ff4e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9c860fd514396" /><Relationship Type="http://schemas.openxmlformats.org/officeDocument/2006/relationships/image" Target="/ppt/media/image6.png" Id="R5f975c3de47b4b3d" /><Relationship Type="http://schemas.openxmlformats.org/officeDocument/2006/relationships/notesSlide" Target="/ppt/notesSlides/notesSlide11.xml" Id="R7a559b75652d4d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2d3a5b33b45e0" /><Relationship Type="http://schemas.openxmlformats.org/officeDocument/2006/relationships/notesSlide" Target="/ppt/notesSlides/notesSlide12.xml" Id="R49d076f8e5eb47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5f90d792e4782" /><Relationship Type="http://schemas.openxmlformats.org/officeDocument/2006/relationships/image" Target="/ppt/media/image7.png" Id="R7d55382c1a414759" /><Relationship Type="http://schemas.openxmlformats.org/officeDocument/2006/relationships/notesSlide" Target="/ppt/notesSlides/notesSlide13.xml" Id="Re69dd7d3e55a4a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73d95c1634b96" /><Relationship Type="http://schemas.openxmlformats.org/officeDocument/2006/relationships/notesSlide" Target="/ppt/notesSlides/notesSlide14.xml" Id="R6fd90bce6eac420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d01732f8e47dd" /><Relationship Type="http://schemas.openxmlformats.org/officeDocument/2006/relationships/chart" Target="/ppt/slides/charts/chart3.xml" Id="R1189a59f30054fcf" /><Relationship Type="http://schemas.openxmlformats.org/officeDocument/2006/relationships/chart" Target="/ppt/slides/charts/chart4.xml" Id="Ra29143f7b13e4d56" /><Relationship Type="http://schemas.openxmlformats.org/officeDocument/2006/relationships/notesSlide" Target="/ppt/notesSlides/notesSlide15.xml" Id="Rbcdc560ae74549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a3ee0c9eb412c" /><Relationship Type="http://schemas.openxmlformats.org/officeDocument/2006/relationships/notesSlide" Target="/ppt/notesSlides/notesSlide16.xml" Id="R3df3904345a74af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2bffe59ef4f25" /><Relationship Type="http://schemas.openxmlformats.org/officeDocument/2006/relationships/notesSlide" Target="/ppt/notesSlides/notesSlide17.xml" Id="Rf2f7f3441ae342d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1b328bc0e4193" /><Relationship Type="http://schemas.openxmlformats.org/officeDocument/2006/relationships/notesSlide" Target="/ppt/notesSlides/notesSlide18.xml" Id="R4c54df5032744f1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0db7ec612440c" /><Relationship Type="http://schemas.openxmlformats.org/officeDocument/2006/relationships/notesSlide" Target="/ppt/notesSlides/notesSlide19.xml" Id="R4c7686ce936c428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5e87f299c421c" /><Relationship Type="http://schemas.openxmlformats.org/officeDocument/2006/relationships/notesSlide" Target="/ppt/notesSlides/notesSlide20.xml" Id="R6b091f68d5c149a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9cafd40884689" /><Relationship Type="http://schemas.openxmlformats.org/officeDocument/2006/relationships/notesSlide" Target="/ppt/notesSlides/notesSlide21.xml" Id="R81c3896a10af40a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처리량 req/s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순차 V1</c:v>
              </c:pt>
              <c:pt idx="1">
                <c:v>Platform V2</c:v>
              </c:pt>
              <c:pt idx="2">
                <c:v>Virtual V3</c:v>
              </c:pt>
            </c:strLit>
          </c:cat>
          <c:val>
            <c:numLit>
              <c:formatCode>General</c:formatCode>
              <c:ptCount val="3"/>
              <c:pt idx="0">
                <c:v>16.09</c:v>
              </c:pt>
              <c:pt idx="1">
                <c:v>32.71</c:v>
              </c:pt>
              <c:pt idx="2">
                <c:v>33.24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8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182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최대 Platform thread</c:v>
          </c:tx>
          <c:spPr>
            <a:solidFill xmlns:a="http://schemas.openxmlformats.org/drawingml/2006/main">
              <a:srgbClr val="12B886"/>
            </a:solidFill>
          </c:spPr>
          <c:cat>
            <c:strLit>
              <c:ptCount val="3"/>
              <c:pt idx="0">
                <c:v>순차 V1</c:v>
              </c:pt>
              <c:pt idx="1">
                <c:v>Platform V2</c:v>
              </c:pt>
              <c:pt idx="2">
                <c:v>Virtual V3</c:v>
              </c:pt>
            </c:strLit>
          </c:cat>
          <c:val>
            <c:numLit>
              <c:formatCode>General</c:formatCode>
              <c:ptCount val="3"/>
              <c:pt idx="0">
                <c:v>75</c:v>
              </c:pt>
              <c:pt idx="1">
                <c:v>151</c:v>
              </c:pt>
              <c:pt idx="2">
                <c:v>87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8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182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p99 ms</c:v>
          </c:tx>
          <c:spPr>
            <a:solidFill xmlns:a="http://schemas.openxmlformats.org/drawingml/2006/main">
              <a:srgbClr val="3D8DFF"/>
            </a:solidFill>
          </c:spPr>
          <c:cat>
            <c:numLit>
              <c:formatCode>General</c:formatCode>
              <c:ptCount val="3"/>
              <c:pt idx="0">
                <c:v>300</c:v>
              </c:pt>
              <c:pt idx="1">
                <c:v>400</c:v>
              </c:pt>
              <c:pt idx="2">
                <c:v>500</c:v>
              </c:pt>
            </c:numLit>
          </c:cat>
          <c:val>
            <c:numLit>
              <c:formatCode>General</c:formatCode>
              <c:ptCount val="3"/>
              <c:pt idx="0">
                <c:v>62.92</c:v>
              </c:pt>
              <c:pt idx="1">
                <c:v>195.58</c:v>
              </c:pt>
              <c:pt idx="2">
                <c:v>173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8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85"/>
                    </a:solidFill>
                  </a:rPr>
                  <a:t>목표 RPS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85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182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6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DB CPU avg %</c:v>
          </c:tx>
          <c:spPr>
            <a:solidFill xmlns:a="http://schemas.openxmlformats.org/drawingml/2006/main">
              <a:srgbClr val="12B886"/>
            </a:solidFill>
          </c:spPr>
          <c:cat>
            <c:numLit>
              <c:formatCode>General</c:formatCode>
              <c:ptCount val="3"/>
              <c:pt idx="0">
                <c:v>300</c:v>
              </c:pt>
              <c:pt idx="1">
                <c:v>400</c:v>
              </c:pt>
              <c:pt idx="2">
                <c:v>500</c:v>
              </c:pt>
            </c:numLit>
          </c:cat>
          <c:val>
            <c:numLit>
              <c:formatCode>0</c:formatCode>
              <c:ptCount val="3"/>
              <c:pt idx="0">
                <c:v>47.64</c:v>
              </c:pt>
              <c:pt idx="1">
                <c:v>64.09</c:v>
              </c:pt>
              <c:pt idx="2">
                <c:v>80.53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8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85"/>
                    </a:solidFill>
                  </a:rPr>
                  <a:t>목표 RPS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85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182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C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5B660-C9A1-43E8-8A44-4D0C6D2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BACKEND ENGINEER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AEFB6-4EF6-4AA3-9A46-88E53E80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Cluverse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C97F1-6E32-4FC7-8BE6-05F376D1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트래픽과 실패 경계를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측정 가능한 구조로 바꿨다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5152F-ADBC-47B8-95F9-B8FC76CE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배준서 · Junseo Bae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Java / Spring / MySQL / Redis / AWS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F2B40-3AC0-47FB-A479-5701683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1920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증상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F9197-37A7-4B19-9DBB-578D26B1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1920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F0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rPr>
              <a:t>원인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E7CC6-FF7A-4FA7-A167-AAB38ECC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5CC08-633B-411F-B8BF-DA9207DF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F64AC-1A9D-477C-BD22-8495F4AA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99B69-1C64-4F3B-ACFF-CEAEF1B1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문제를 하나의 현상으로 보지 않는다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13831-4D18-4BA8-A953-7D24158C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7961758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42FF3-BDA5-4254-994D-122885CC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PROJECT · CLUVERSE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C56E9-7CE2-4DCF-94A1-A7B79D57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학교의 벽보다 관심사의 연결을 먼저 설계했다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94191-2023-45E1-9216-2BC5A460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F1B07-3805-4A59-A561-FBB1C82D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EBB93-5B80-4CC8-A37A-D9E5CEBF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전국 대학생이 학과·관심사로 모이고, 모집에서 실제 협업까지 이어지는 커뮤니티다.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98B40-274F-4CB1-B019-C6C110D6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286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관심사·학과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보드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CC3CB-D033-4B2F-8E41-36ACEB85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2286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845EF7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모집·지원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7419F-360C-40F5-9D4D-672BEC8D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67000"/>
            <a:ext cx="2286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그룹 운영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D517E-9622-4D86-A80A-A34FBC22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1962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스파이크에서도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읽기 흐름 보호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09900" y="32956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115050" y="32956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20200" y="32956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67537-6A80-4585-B994-BE2D3D92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기술 목표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75F05-EAF4-4317-96DC-E3A655F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사람이 몰려도 핵심 조회·쓰기의 성공률과 tail latency가 무너지지 않는 구조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7B4D5-F5E5-4908-8639-BB25AF41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개인 프로젝트 · 2026.01–2026.07</a:t>
            </a:r>
          </a:p>
        </p:txBody>
      </p:sp>
    </p:spTree>
    <p:extLst>
      <p:ext uri="{BB962C8B-B14F-4D97-AF65-F5344CB8AC3E}">
        <p14:creationId xmlns:p14="http://schemas.microsoft.com/office/powerpoint/2010/main" val="7911793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C464EF-2706-4F82-A360-2944E823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METHOD · SLO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CEF60-252A-451C-9937-F128DE5D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최대 TPS보다 먼저 ‘통과 조건’을 고정했다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2B5CC-B789-4F03-A5AF-6F12A48E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2E928-2BE3-44B6-BEB1-2364E2C5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60F5D-44D5-4E9B-8E19-888CE607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숫자가 커져도 느리거나 실패하면 제공한 처리량이 아니다.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D4E11-BF3F-4546-8396-21315BAA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C72A3-5532-4DAA-9B8B-C5B8AD2B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050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64B53-6060-42B9-9FC6-224F08B2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4A97A-FD4C-4D72-B14A-0D464B31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99.9%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9C08F-9283-4BC1-9913-DB3536F7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핵심 API 성공률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43CE4-857E-4CE2-8EC9-D5DC4F26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요청 유실과 dropped iteration까지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D1E65-F2FC-4ACD-BAC8-7AD3293A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098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800ms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A0D27-F3E6-472D-B111-F3D11695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14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핵심 조회 p99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3C1B5-C5A3-4F36-91D5-B38A2F7D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766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탐색 흐름의 꼬리 지연 상한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D9C25-3415-4525-983E-ABECFF30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098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1.5s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2AA37-9FBC-44C6-AA41-6775C400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핵심 쓰기 p99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E45EB-FE51-4D84-90E6-E677BE42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766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트랜잭션과 후속 처리 비용 반영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7D720-E0FE-4823-8F8D-14062E4D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44448-9C35-4360-8C37-BB942F64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10분 이상 지속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6E33E-5A01-415A-9CDA-2C4ADBC2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149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동일 인프라·데이터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25B24C-C7B8-463C-9EB6-2E9C6E8C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149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개방형 도착률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4C206-B07C-4927-8A8C-4B036FFE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14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회복 시간 30초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C8537F-E75E-4F78-827C-2FFADA3C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부하 종료 후 오류율과 p99가 30초 연속 SLO를 만족할 때 회복으로 판정</a:t>
            </a:r>
          </a:p>
        </p:txBody>
      </p:sp>
    </p:spTree>
    <p:extLst>
      <p:ext uri="{BB962C8B-B14F-4D97-AF65-F5344CB8AC3E}">
        <p14:creationId xmlns:p14="http://schemas.microsoft.com/office/powerpoint/2010/main" val="472428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AB6D87-7C84-4741-8AEC-8BE1F826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ARCHITECTURE · LOAD-TEST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72E26-DCCD-4658-BA4B-17BFAC73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비용을 고정해 구조 변경의 효과만 비교했다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5B0FD-9261-42C8-950A-895B983A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D8CBD-2FED-4AF3-A666-CF04049C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001AC-2F40-4739-8EEC-C60075CA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Terraform base/test 스택을 분리해 같은 조건으로 생성·폐기하는 검증 인프라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1D374-A7A9-4510-9496-4ECE85BD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66850"/>
            <a:ext cx="1676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F0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rPr>
              <a:t>검증 인프라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BB44B-8EBE-42D6-B6CF-6902A5B4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k6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Load Generator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6826D-F09B-444B-B564-569967EE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76550"/>
            <a:ext cx="1485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AWS ALB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HTTPS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79ACC-157D-4BCD-A70D-A9506221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19526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ECS on EC2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app 1 · t3.small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3E1E9-3891-43A9-8F95-8B977F4E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19526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ECS on EC2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app 2 · t3.small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080CE-153D-4F2A-8BF3-C20CBDF2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845EF7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MySQL 8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t3.small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0BFDF-E04F-4E9A-8A36-D73BBF19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57625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Redis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t3.micro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9B9C0-77E6-4E3B-A934-75703528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F0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rPr>
              <a:t>S3 + Lambda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rPr>
              <a:t>image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609FE-0826-4FB7-9816-BCF91706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Prometheus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+ Grafana</a:t>
            </a:r>
          </a:p>
        </p:txBody>
      </p:sp>
      <p:cxnSp>
        <p:nvCxnSpPr>
          <p:cNvPr id="6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24100" y="33528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4267200" y="2667000"/>
            <a:ext cx="49530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69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267200" y="3352800"/>
            <a:ext cx="495300" cy="800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715125" y="2476500"/>
            <a:ext cx="714375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45EF7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715125" y="2667000"/>
            <a:ext cx="714375" cy="1666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64980"/>
            </a:solidFill>
            <a:prstDash val="solid"/>
            <a:tailEnd type="arrow" w="med" len="med"/>
          </a:ln>
        </p:spPr>
      </p:cxnSp>
      <p:cxnSp>
        <p:nvCxnSpPr>
          <p:cNvPr id="72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6715125" y="2476500"/>
            <a:ext cx="2905125" cy="5905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F59F00"/>
            </a:solidFill>
            <a:prstDash val="dash"/>
            <a:tailEnd type="arrow" w="med" len="med"/>
          </a:ln>
        </p:spPr>
      </p:cxnSp>
      <p:cxnSp>
        <p:nvCxnSpPr>
          <p:cNvPr id="73" name=""/>
          <p:cNvCxnSpPr>
            <a:stCxn xmlns:a="http://schemas.openxmlformats.org/drawingml/2006/main" id="14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6715125" y="2667000"/>
            <a:ext cx="2905125" cy="1666875"/>
          </a:xfrm>
          <a:prstGeom xmlns:a="http://schemas.openxmlformats.org/drawingml/2006/main" prst="bentConnector5">
            <a:avLst>
              <a:gd name="adj1" fmla="val 7869"/>
              <a:gd name="adj2" fmla="val 35429"/>
              <a:gd name="adj3" fmla="val 79344"/>
            </a:avLst>
          </a:prstGeom>
          <a:ln xmlns:a="http://schemas.openxmlformats.org/drawingml/2006/main" w="9525">
            <a:solidFill>
              <a:srgbClr val="667085"/>
            </a:solidFill>
            <a:prstDash val="dash"/>
          </a:ln>
        </p:spPr>
      </p:cxnSp>
      <p:cxnSp>
        <p:nvCxnSpPr>
          <p:cNvPr id="7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715125" y="2476500"/>
            <a:ext cx="714375" cy="1676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45EF7"/>
            </a:solidFill>
            <a:prstDash val="solid"/>
            <a:tailEnd type="arrow" w="med" len="med"/>
          </a:ln>
        </p:spPr>
      </p:cxnSp>
      <p:cxnSp>
        <p:nvCxnSpPr>
          <p:cNvPr id="7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715125" y="4152900"/>
            <a:ext cx="714375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64980"/>
            </a:solidFill>
            <a:prstDash val="solid"/>
            <a:tailEnd type="arrow" w="med" len="med"/>
          </a:ln>
        </p:spPr>
      </p:cxnSp>
      <p:cxnSp>
        <p:nvCxnSpPr>
          <p:cNvPr id="7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6715125" y="2476500"/>
            <a:ext cx="2905125" cy="1676400"/>
          </a:xfrm>
          <a:prstGeom xmlns:a="http://schemas.openxmlformats.org/drawingml/2006/main" prst="bentConnector5">
            <a:avLst>
              <a:gd name="adj1" fmla="val 20656"/>
              <a:gd name="adj2" fmla="val 64773"/>
              <a:gd name="adj3" fmla="val 92131"/>
            </a:avLst>
          </a:prstGeom>
          <a:ln xmlns:a="http://schemas.openxmlformats.org/drawingml/2006/main" w="19050">
            <a:solidFill>
              <a:srgbClr val="F59F00"/>
            </a:solidFill>
            <a:prstDash val="dash"/>
            <a:tailEnd type="arrow" w="med" len="med"/>
          </a:ln>
        </p:spPr>
      </p:cxnSp>
      <p:cxnSp>
        <p:nvCxnSpPr>
          <p:cNvPr id="77" name=""/>
          <p:cNvCxnSpPr>
            <a:stCxn xmlns:a="http://schemas.openxmlformats.org/drawingml/2006/main" id="14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 flipV="1">
            <a:off x="6715125" y="3743325"/>
            <a:ext cx="2905125" cy="590550"/>
          </a:xfrm>
          <a:prstGeom xmlns:a="http://schemas.openxmlformats.org/drawingml/2006/main" prst="bentConnector4">
            <a:avLst/>
          </a:prstGeom>
          <a:ln xmlns:a="http://schemas.openxmlformats.org/drawingml/2006/main" w="9525">
            <a:solidFill>
              <a:srgbClr val="667085"/>
            </a:solidFill>
            <a:prstDash val="dash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A4274B-E3C5-48C1-A6ED-A11ED9AD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애플리케이션 2대 · DB 1대 · Redis 1대 · 측정 노드 분리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37EFE2-8193-41E3-AEFD-CC6E6C9F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사양을 늘려 얻은 TPS와 구조 변경으로 얻은 TPS를 섞지 않았다.</a:t>
            </a:r>
          </a:p>
        </p:txBody>
      </p:sp>
    </p:spTree>
    <p:extLst>
      <p:ext uri="{BB962C8B-B14F-4D97-AF65-F5344CB8AC3E}">
        <p14:creationId xmlns:p14="http://schemas.microsoft.com/office/powerpoint/2010/main" val="772564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E6F19-77A6-4980-A68E-B8551CB7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01 · TRANSACTION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243A7-D92C-48C6-8685-CC99462F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외부 300ms가 DB 커넥션의 서비스 시간이 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F2158-75D3-4BE6-96A4-D5A56675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DB49F-45BE-4CF5-963D-A00CDA47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BE312-721F-4D4C-9953-5080A7D0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기존 설계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16049-E08D-42A1-A352-8B5EBB87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게시글·장소를 함께 롤백하려고 외부 검증을 트랜잭션 안에 포함했다.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CE342-B875-474C-9B24-C45F7129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1174B-6CE5-446B-9540-DEFD7A0F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장소 첨부 시 p95·p99가 외부 응답만큼 증가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1AE2B-19CD-4828-A3B4-11DB69D5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C11AA-B78A-415D-BFD7-1EDE1BF6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16 RPS에서 p99 1.77초·dropped 8건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A3489-93FC-437A-8A6F-72441809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4E3F7-88D6-49CD-B956-78C79276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외부 timeout이 게시글 전체 롤백으로 전파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876B7-5C53-4497-BD37-8B2C8C84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4629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Hikari 5 ÷ 0.3초 ≈ 16.7 RPS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29990-6722-433D-8C11-68685232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Little’s Law: 도착률이 처리율에 가까워지자 대기열이 비선형 증가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728f527dc46c4"/>
          <a:stretch xmlns:a="http://schemas.openxmlformats.org/drawingml/2006/main"/>
        </p:blipFill>
        <p:spPr>
          <a:xfrm xmlns:a="http://schemas.openxmlformats.org/drawingml/2006/main">
            <a:off x="5846667" y="1504950"/>
            <a:ext cx="5604066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2493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6C5D1-53DB-4A50-ADF4-6E119222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01 · COMMIT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4811C-856C-49C7-A68B-12051AA2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롤백 범위가 아니라 실패 후 남을 상태로 경계를 나눴다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B305D-3F74-4885-B80F-7C661E3A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0010E-2E37-42C2-9E95-D7339351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12E32-0A24-4711-AC4C-89C9FC40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해결 전략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4413C-4E63-450A-AFC9-FF2932E7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Post를 먼저 커밋하고 장소 검증은 AFTER_COMMIT 이후 별도 경로에서 수행했다.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b9da0d39c4aad"/>
          <a:stretch xmlns:a="http://schemas.openxmlformats.org/drawingml/2006/main"/>
        </p:blipFill>
        <p:spPr>
          <a:xfrm xmlns:a="http://schemas.openxmlformats.org/drawingml/2006/main">
            <a:off x="5865594" y="1466850"/>
            <a:ext cx="5547162" cy="4000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BF6C5-8CED-4367-924C-8C4AB741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15 → 103 RPS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CBBE1-C20C-489E-B221-14E941DD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359.2 → 28.1ms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API 평균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A5434-0AAF-44EC-B730-C72F7351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845EF7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338.4 → 16.4ms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TX 평균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6C8C2-E99F-49EB-A026-C220906F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67200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100% / dropped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FF1E0-D1B5-4D15-8777-AD1369C4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76900"/>
            <a:ext cx="857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한계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F9ABD-0984-4E4E-813F-D3925D1A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81650"/>
            <a:ext cx="4819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@Async는 유실 없는 전달을 보장하지 않는다. 104 RPS에서 13건이 제한 시간 안에 provider에 도달하지 못해 103 RPS만 채택했다.</a:t>
            </a:r>
          </a:p>
        </p:txBody>
      </p:sp>
    </p:spTree>
    <p:extLst>
      <p:ext uri="{BB962C8B-B14F-4D97-AF65-F5344CB8AC3E}">
        <p14:creationId xmlns:p14="http://schemas.microsoft.com/office/powerpoint/2010/main" val="8061727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243e30c694454"/>
          <a:stretch xmlns:a="http://schemas.openxmlformats.org/drawingml/2006/main"/>
        </p:blipFill>
        <p:spPr>
          <a:xfrm xmlns:a="http://schemas.openxmlformats.org/drawingml/2006/main">
            <a:off x="166331" y="0"/>
            <a:ext cx="1185933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64E35-30A6-4279-8095-44625806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13564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D2EB4-FEEA-47DF-8F58-F982AE14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02 · IMAGE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81C4A-8C03-4F92-A4B7-10EC0B40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병렬화는 지연을 줄였고, bulkhead가 자원 전파를 제한했다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B6AA1-0BB8-446B-93AB-9C54FE45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BFAB0-328E-4424-ADDD-1A2F4CD0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582AC-9E77-4A27-9DFE-B84FA42B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동시 작업 상한 64 · 이미지 3장 · ECS app 2대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4953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67777a91224f7d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210300" y="2152650"/>
          <a:ext xmlns:a="http://schemas.openxmlformats.org/drawingml/2006/main" cx="4953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d9c1c993b0415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F878F-F6DD-4F67-9D70-DEDFF708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처리량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A87B9-C0B5-4F83-B0DE-41D38EA5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OS thread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5D39B-98BF-41AC-B254-6082C120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3048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p99 8.12s → 3.36s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1B1CC-F38B-48FE-A23C-E150B1C5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0"/>
            <a:ext cx="716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Virtual Thread는 외부 작업을 빠르게 하지 않았다. 같은 처리량에서 기다림을 더 적은 OS thread로 감당했다.</a:t>
            </a:r>
          </a:p>
        </p:txBody>
      </p:sp>
    </p:spTree>
    <p:extLst>
      <p:ext uri="{BB962C8B-B14F-4D97-AF65-F5344CB8AC3E}">
        <p14:creationId xmlns:p14="http://schemas.microsoft.com/office/powerpoint/2010/main" val="3628592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5D62B-0C3B-43E0-A7F2-FCD81B9B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02 · PARTIAL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83921-E4CE-41C5-9491-42343D32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DB–S3 원자성 대신 복구 가능한 프로토콜을 설계했다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A7E54-FFE1-4E23-88E6-C1A14F68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B0E73-689C-4E55-9112-CC8DE1D3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cff73ab814fca"/>
          <a:stretch xmlns:a="http://schemas.openxmlformats.org/drawingml/2006/main"/>
        </p:blipFill>
        <p:spPr>
          <a:xfrm xmlns:a="http://schemas.openxmlformats.org/drawingml/2006/main">
            <a:off x="2075949" y="1409700"/>
            <a:ext cx="8040103" cy="4400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719AA-820E-40F7-ADA2-8AF848A4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800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C7F1B-ACBE-4641-A77C-BA9EE3F9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8483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실패 주입 후 잘못된 COMPLETED 참조 0건 · 고아 객체 0건 · 오래된 PENDING 0건으로 수렴</a:t>
            </a:r>
          </a:p>
        </p:txBody>
      </p:sp>
    </p:spTree>
    <p:extLst>
      <p:ext uri="{BB962C8B-B14F-4D97-AF65-F5344CB8AC3E}">
        <p14:creationId xmlns:p14="http://schemas.microsoft.com/office/powerpoint/2010/main" val="998792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F6140-19A7-4B6D-956E-85350F69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03 · VIEW COUNT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A4164-8DBB-4216-8436-07521E47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핫 row의 상한은 커넥션 수가 아니라 3.5ms commit이었다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131CB-7193-4BC8-A532-1F2D957F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1E906-DDDD-4673-B8B8-816D305D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5987ba0b0483b"/>
          <a:stretch xmlns:a="http://schemas.openxmlformats.org/drawingml/2006/main"/>
        </p:blipFill>
        <p:spPr>
          <a:xfrm xmlns:a="http://schemas.openxmlformats.org/drawingml/2006/main">
            <a:off x="609600" y="1822937"/>
            <a:ext cx="6953250" cy="355502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4B8AF-5AD9-4720-918C-DFC4CA84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원인 분리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2B87B-44D5-4F53-A7D6-E3D7864E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285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0FEC9-3E66-4366-812A-438D59BF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1 connection · same 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77486-2671-44DC-A63D-91B93563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경합이 없어도 한 건당 약 3.5ms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45AE1-558E-43B3-9AD7-6162479A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288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53420-B644-4D61-A681-5464395D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24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20 connections · same row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917DF-8E08-485A-9E24-C79FBD61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줄만 길어지고 처리율은 유지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7C016-7BE6-4A73-9839-313C15D4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43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3,128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AE0B9-5A89-4B00-9819-2CB91AAC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48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20 connections · different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74541-43FD-40E4-A1E6-7A14ACF2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103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group commit으로 fsync 비용 공유</a:t>
            </a:r>
          </a:p>
        </p:txBody>
      </p:sp>
    </p:spTree>
    <p:extLst>
      <p:ext uri="{BB962C8B-B14F-4D97-AF65-F5344CB8AC3E}">
        <p14:creationId xmlns:p14="http://schemas.microsoft.com/office/powerpoint/2010/main" val="12661864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75c3de47b4b3d"/>
          <a:stretch xmlns:a="http://schemas.openxmlformats.org/drawingml/2006/main"/>
        </p:blipFill>
        <p:spPr>
          <a:xfrm xmlns:a="http://schemas.openxmlformats.org/drawingml/2006/main">
            <a:off x="1478456" y="0"/>
            <a:ext cx="923508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4CD65-5C13-4B84-8E3D-3540EF07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326461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A5A095-38F3-44D7-8823-B3B4AF2F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03 · SOURCE OF TRUTH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48E0E-C93C-4BF0-B12F-8F44C733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근사값은 허용해도 표시값의 역행은 허용하지 않았다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81819-F72F-4757-8C0A-D9576134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6079B-895C-4306-A99B-285FAF95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867A4-3BFF-4159-8A68-12752225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Redis 전체 카운터를 화면의 단일 원천으로 고정하고 MySQL은 GREATEST 체크포인트로 바꿨다.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64094-8DE5-4B83-AD8B-73FB8405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DCE57-11B8-4338-B3DF-29A3C53A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13104-9C5E-4A5C-B871-FB9A144F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66D2E-A15A-473F-93D5-902D8E59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1,000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CF440-B351-48FA-8BF8-15C92775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RPS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7B2DC-1006-472A-8198-FA0F6AA7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0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distributed profile · 120,001 requests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3C5C6-6A2C-441B-8F58-34FA3B50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2415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57.3ms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88241-E041-428E-B8B5-22B1353C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4290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평균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1AD44-95EA-4E55-A79E-A77BDFA2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90950"/>
            <a:ext cx="260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p95 197.1ms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DFDD4-D698-4E88-A4C1-0FE4A420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2415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686.8ms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89B26-7815-4E79-B0E2-1B36AA79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p99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4D3D7-01AD-4F45-AE76-2FEC91D6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90950"/>
            <a:ext cx="260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오류율 약 0.10%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54744-2BA5-43BF-86BB-A6E4C106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남는 위험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E84FE-1BCB-4B86-B1F1-ADF87D95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Redis 손실 시 마지막 체크포인트 이후 역행 가능 · 전체 순회와 Evictor 운영 비용 · 단일 핫 키 한계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24509-4655-40FA-840F-619A3534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dirty + generation과 striped counter는 실제 임계치가 확인될 때만 도입한다.</a:t>
            </a:r>
          </a:p>
        </p:txBody>
      </p:sp>
    </p:spTree>
    <p:extLst>
      <p:ext uri="{BB962C8B-B14F-4D97-AF65-F5344CB8AC3E}">
        <p14:creationId xmlns:p14="http://schemas.microsoft.com/office/powerpoint/2010/main" val="2908982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7EB0B-F72E-4E6A-90FF-04CF9D99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04 · POST 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698AB-A68D-499C-990A-CF1C3E2B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인덱스를 타도 OFFSET까지 읽고 버리는 비용은 남았다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21C14-6613-414F-9BC0-F5A9A62D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4397D-D974-419A-AF88-9C0CDE1C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5382c1a414759"/>
          <a:stretch xmlns:a="http://schemas.openxmlformats.org/drawingml/2006/main"/>
        </p:blipFill>
        <p:spPr>
          <a:xfrm xmlns:a="http://schemas.openxmlformats.org/drawingml/2006/main">
            <a:off x="1866431" y="1409700"/>
            <a:ext cx="8459138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6E3C9-5586-445E-9211-093D5AB7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67400"/>
            <a:ext cx="1524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0.48s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8F821-8256-492A-8FCC-8957079F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62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page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CE9DF-4C41-4E89-9643-5903F110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867400"/>
            <a:ext cx="1524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32s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70D4A-7D60-40AA-8953-C2E64B80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962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page 20,000</a:t>
            </a:r>
          </a:p>
        </p:txBody>
      </p:sp>
    </p:spTree>
    <p:extLst>
      <p:ext uri="{BB962C8B-B14F-4D97-AF65-F5344CB8AC3E}">
        <p14:creationId xmlns:p14="http://schemas.microsoft.com/office/powerpoint/2010/main" val="4430821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9B840E-7CC4-40E9-ACAD-FE368C60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04 · LAYERED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5B852-9727-42F4-9AD8-B3A65A0E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페이지 번호 UX를 유지하되 탐색 비용에 상한을 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E0234-C995-4317-A6C4-3967BF69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2B140-1077-44EA-91D7-8BA9FBC4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AF893-CAC0-4E47-92C4-996EAF98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한 기술로 덮지 않고 반복 비용과 깊은 탐색을 서로 다른 경로로 분리했다.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DC098-CE9A-4455-BD5D-1E0822A3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6D01D-EAE3-4D6E-82B9-1924048C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58AC3-8521-4D2B-A3B3-4C254DFE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5EF7"/>
          </a:solidFill>
          <a:ln xmlns:a="http://schemas.openxmlformats.org/drawingml/2006/main" w="0">
            <a:solidFill>
              <a:srgbClr val="845E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EC8D1-A077-4AF5-A025-DF9F9860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 w="0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9FE5F-4AF6-453E-922B-A4D84854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F59F00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7EA80-616F-43EE-8E59-7D440C4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AA296-2090-4E81-AE74-46441DD7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9B0B5-4BC8-4A07-A877-BD8F68F2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E5C50-3D25-406D-93DE-8E539F65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38FB0-27C8-449F-85AB-FB5CE892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커버링 인덱스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+ 지연 조인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0DBF3-5399-4432-9DBD-12B076C8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147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페이지 블록만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상한 COUNT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D8009-CA53-4E8A-97BF-741A0C5C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147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상위 201 ID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Redis Sorted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AE5BD-4DBF-4526-82A5-E06AE47E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147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201페이지 이후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날짜 + cursor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D7F22-3A94-44AF-BFDA-121A2509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OFFSET 이동은 ID 상태로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293E1A-4E51-4709-912A-9803E0DF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67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최대 4,001건에서 중단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6345DC-DF0C-4359-8B82-37D757AE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67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약 80% 반복 구간 흡수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0F7BC6-B46A-4235-8A18-9A4F44F5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67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O(offset) 경로를 제거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896C73-381E-4B3B-8578-E9D40E8E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62600"/>
            <a:ext cx="5715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Redis 실패 → 기존 DB 경로 폴백</a:t>
            </a:r>
          </a:p>
        </p:txBody>
      </p:sp>
    </p:spTree>
    <p:extLst>
      <p:ext uri="{BB962C8B-B14F-4D97-AF65-F5344CB8AC3E}">
        <p14:creationId xmlns:p14="http://schemas.microsoft.com/office/powerpoint/2010/main" val="5715648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3E98B-5F10-4FEE-A721-F2435470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04 · EVIDENCE AND LIMIT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8B42E-ED97-4B81-95B2-BB024E29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500 TPS는 검증 상한, 운영 목표는 400 TPS로 남겼다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77BF0-0065-423D-A465-F710D73E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41803-FC0B-4E0B-8190-B0770EF9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02C5E-3CC4-4E9D-B536-3499C168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V3 95% + 날짜 cursor V4 5% 혼합 부하 · cache hit 약 80%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4953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89a59f30054fcf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210300" y="2152650"/>
          <a:ext xmlns:a="http://schemas.openxmlformats.org/drawingml/2006/main" cx="4953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9143f7b13e4d5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E1568-0482-457F-8E47-D1533A64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tail latency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71D47-8CFF-4E2A-AABC-9162F71A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capacity headroom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87FED-0181-45FE-BD6C-1E7E9CB7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3143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p99 173ms · 오류 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A5634-E867-4A99-A1DA-C90FF23A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62600"/>
            <a:ext cx="7067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500 TPS에서도 통과했지만 DB CPU가 80%를 넘어 운영 여유가 작다. 400 TPS를 목표로 두고 500 TPS는 검증된 상한으로만 기록했다.</a:t>
            </a:r>
          </a:p>
        </p:txBody>
      </p:sp>
    </p:spTree>
    <p:extLst>
      <p:ext uri="{BB962C8B-B14F-4D97-AF65-F5344CB8AC3E}">
        <p14:creationId xmlns:p14="http://schemas.microsoft.com/office/powerpoint/2010/main" val="11561832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5B660-C9A1-43E8-8A44-4D0C6D2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BACKEND ENGINEER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AEFB6-4EF6-4AA3-9A46-88E53E80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Cluverse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C97F1-6E32-4FC7-8BE6-05F376D1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트래픽과 실패 경계를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측정 가능한 구조로 바꿨다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5152F-ADBC-47B8-95F9-B8FC76CE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배준서 · Junseo Bae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Java / Spring / MySQL / Redis / AWS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F2B40-3AC0-47FB-A479-5701683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1920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증상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F9197-37A7-4B19-9DBB-578D26B1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1920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F0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rPr>
              <a:t>원인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E7CC6-FF7A-4FA7-A167-AAB38ECC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5CC08-633B-411F-B8BF-DA9207DF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F64AC-1A9D-477C-BD22-8495F4AA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99B69-1C64-4F3B-ACFF-CEAEF1B1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문제를 하나의 현상으로 보지 않는다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13831-4D18-4BA8-A953-7D24158C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7961758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42FF3-BDA5-4254-994D-122885CC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PROJECT · CLUVERSE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C56E9-7CE2-4DCF-94A1-A7B79D57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학교의 벽보다 관심사의 연결을 먼저 설계했다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94191-2023-45E1-9216-2BC5A460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F1B07-3805-4A59-A561-FBB1C82D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EBB93-5B80-4CC8-A37A-D9E5CEBF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전국 대학생이 학과·관심사로 모이고, 모집에서 실제 협업까지 이어지는 커뮤니티다.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98B40-274F-4CB1-B019-C6C110D6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286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관심사·학과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보드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CC3CB-D033-4B2F-8E41-36ACEB85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2286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845EF7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모집·지원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7419F-360C-40F5-9D4D-672BEC8D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67000"/>
            <a:ext cx="2286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그룹 운영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D517E-9622-4D86-A80A-A34FBC22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1962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스파이크에서도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읽기 흐름 보호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09900" y="32956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115050" y="32956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20200" y="32956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67537-6A80-4585-B994-BE2D3D92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기술 목표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75F05-EAF4-4317-96DC-E3A655F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사람이 몰려도 핵심 조회·쓰기의 성공률과 tail latency가 무너지지 않는 구조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7B4D5-F5E5-4908-8639-BB25AF41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개인 프로젝트 · 2026.01–2026.07</a:t>
            </a:r>
          </a:p>
        </p:txBody>
      </p:sp>
    </p:spTree>
    <p:extLst>
      <p:ext uri="{BB962C8B-B14F-4D97-AF65-F5344CB8AC3E}">
        <p14:creationId xmlns:p14="http://schemas.microsoft.com/office/powerpoint/2010/main" val="7911793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AB6D87-7C84-4741-8AEC-8BE1F826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ARCHITECTURE · LOAD-TEST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72E26-DCCD-4658-BA4B-17BFAC73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비용을 고정해 구조 변경의 효과만 비교했다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5B0FD-9261-42C8-950A-895B983A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D8CBD-2FED-4AF3-A666-CF04049C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001AC-2F40-4739-8EEC-C60075CA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Terraform base/test 스택을 분리해 같은 조건으로 생성·폐기하는 검증 인프라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1D374-A7A9-4510-9496-4ECE85BD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66850"/>
            <a:ext cx="1676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F0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rPr>
              <a:t>검증 인프라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BB44B-8EBE-42D6-B6CF-6902A5B4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k6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Load Generator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6826D-F09B-444B-B564-569967EE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76550"/>
            <a:ext cx="1485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AWS ALB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HTTPS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79ACC-157D-4BCD-A70D-A9506221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19526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ECS on EC2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app 1 · t3.small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3E1E9-3891-43A9-8F95-8B977F4E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19526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ECS on EC2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app 2 · t3.small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080CE-153D-4F2A-8BF3-C20CBDF2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845EF7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MySQL 8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t3.small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0BFDF-E04F-4E9A-8A36-D73BBF19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57625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Redis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t3.micro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9B9C0-77E6-4E3B-A934-75703528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F0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rPr>
              <a:t>S3 + Lambda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rPr>
              <a:t>image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609FE-0826-4FB7-9816-BCF91706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Prometheus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+ Grafana</a:t>
            </a:r>
          </a:p>
        </p:txBody>
      </p:sp>
      <p:cxnSp>
        <p:nvCxnSpPr>
          <p:cNvPr id="6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24100" y="33528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4267200" y="2667000"/>
            <a:ext cx="49530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69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267200" y="3352800"/>
            <a:ext cx="495300" cy="800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715125" y="2476500"/>
            <a:ext cx="714375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45EF7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715125" y="2667000"/>
            <a:ext cx="714375" cy="1666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64980"/>
            </a:solidFill>
            <a:prstDash val="solid"/>
            <a:tailEnd type="arrow" w="med" len="med"/>
          </a:ln>
        </p:spPr>
      </p:cxnSp>
      <p:cxnSp>
        <p:nvCxnSpPr>
          <p:cNvPr id="72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6715125" y="2476500"/>
            <a:ext cx="2905125" cy="5905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F59F00"/>
            </a:solidFill>
            <a:prstDash val="dash"/>
            <a:tailEnd type="arrow" w="med" len="med"/>
          </a:ln>
        </p:spPr>
      </p:cxnSp>
      <p:cxnSp>
        <p:nvCxnSpPr>
          <p:cNvPr id="73" name=""/>
          <p:cNvCxnSpPr>
            <a:stCxn xmlns:a="http://schemas.openxmlformats.org/drawingml/2006/main" id="14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6715125" y="2667000"/>
            <a:ext cx="2905125" cy="1666875"/>
          </a:xfrm>
          <a:prstGeom xmlns:a="http://schemas.openxmlformats.org/drawingml/2006/main" prst="bentConnector5">
            <a:avLst>
              <a:gd name="adj1" fmla="val 7869"/>
              <a:gd name="adj2" fmla="val 35429"/>
              <a:gd name="adj3" fmla="val 79344"/>
            </a:avLst>
          </a:prstGeom>
          <a:ln xmlns:a="http://schemas.openxmlformats.org/drawingml/2006/main" w="9525">
            <a:solidFill>
              <a:srgbClr val="667085"/>
            </a:solidFill>
            <a:prstDash val="dash"/>
          </a:ln>
        </p:spPr>
      </p:cxnSp>
      <p:cxnSp>
        <p:nvCxnSpPr>
          <p:cNvPr id="7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715125" y="2476500"/>
            <a:ext cx="714375" cy="1676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45EF7"/>
            </a:solidFill>
            <a:prstDash val="solid"/>
            <a:tailEnd type="arrow" w="med" len="med"/>
          </a:ln>
        </p:spPr>
      </p:cxnSp>
      <p:cxnSp>
        <p:nvCxnSpPr>
          <p:cNvPr id="7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715125" y="4152900"/>
            <a:ext cx="714375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64980"/>
            </a:solidFill>
            <a:prstDash val="solid"/>
            <a:tailEnd type="arrow" w="med" len="med"/>
          </a:ln>
        </p:spPr>
      </p:cxnSp>
      <p:cxnSp>
        <p:nvCxnSpPr>
          <p:cNvPr id="7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6715125" y="2476500"/>
            <a:ext cx="2905125" cy="1676400"/>
          </a:xfrm>
          <a:prstGeom xmlns:a="http://schemas.openxmlformats.org/drawingml/2006/main" prst="bentConnector5">
            <a:avLst>
              <a:gd name="adj1" fmla="val 20656"/>
              <a:gd name="adj2" fmla="val 64773"/>
              <a:gd name="adj3" fmla="val 92131"/>
            </a:avLst>
          </a:prstGeom>
          <a:ln xmlns:a="http://schemas.openxmlformats.org/drawingml/2006/main" w="19050">
            <a:solidFill>
              <a:srgbClr val="F59F00"/>
            </a:solidFill>
            <a:prstDash val="dash"/>
            <a:tailEnd type="arrow" w="med" len="med"/>
          </a:ln>
        </p:spPr>
      </p:cxnSp>
      <p:cxnSp>
        <p:nvCxnSpPr>
          <p:cNvPr id="77" name=""/>
          <p:cNvCxnSpPr>
            <a:stCxn xmlns:a="http://schemas.openxmlformats.org/drawingml/2006/main" id="14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 flipV="1">
            <a:off x="6715125" y="3743325"/>
            <a:ext cx="2905125" cy="590550"/>
          </a:xfrm>
          <a:prstGeom xmlns:a="http://schemas.openxmlformats.org/drawingml/2006/main" prst="bentConnector4">
            <a:avLst/>
          </a:prstGeom>
          <a:ln xmlns:a="http://schemas.openxmlformats.org/drawingml/2006/main" w="9525">
            <a:solidFill>
              <a:srgbClr val="667085"/>
            </a:solidFill>
            <a:prstDash val="dash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A4274B-E3C5-48C1-A6ED-A11ED9AD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애플리케이션 2대 · DB 1대 · Redis 1대 · 측정 노드 분리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37EFE2-8193-41E3-AEFD-CC6E6C9F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사양을 늘려 얻은 TPS와 구조 변경으로 얻은 TPS를 섞지 않았다.</a:t>
            </a:r>
          </a:p>
        </p:txBody>
      </p:sp>
    </p:spTree>
    <p:extLst>
      <p:ext uri="{BB962C8B-B14F-4D97-AF65-F5344CB8AC3E}">
        <p14:creationId xmlns:p14="http://schemas.microsoft.com/office/powerpoint/2010/main" val="7725642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C464EF-2706-4F82-A360-2944E823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METHOD · SLO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CEF60-252A-451C-9937-F128DE5D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최대 TPS보다 먼저 ‘통과 조건’을 고정했다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2B5CC-B789-4F03-A5AF-6F12A48E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2E928-2BE3-44B6-BEB1-2364E2C5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60F5D-44D5-4E9B-8E19-888CE607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숫자가 커져도 느리거나 실패하면 제공한 처리량이 아니다.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D4E11-BF3F-4546-8396-21315BAA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C72A3-5532-4DAA-9B8B-C5B8AD2B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050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64B53-6060-42B9-9FC6-224F08B2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4A97A-FD4C-4D72-B14A-0D464B31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99.9%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9C08F-9283-4BC1-9913-DB3536F7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핵심 API 성공률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43CE4-857E-4CE2-8EC9-D5DC4F26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요청 유실과 dropped iteration까지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D1E65-F2FC-4ACD-BAC8-7AD3293A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098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800ms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A0D27-F3E6-472D-B111-F3D11695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14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핵심 조회 p99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3C1B5-C5A3-4F36-91D5-B38A2F7D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766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탐색 흐름의 꼬리 지연 상한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D9C25-3415-4525-983E-ABECFF30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098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1.5s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2AA37-9FBC-44C6-AA41-6775C400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핵심 쓰기 p99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E45EB-FE51-4D84-90E6-E677BE42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766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트랜잭션과 후속 처리 비용 반영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7D720-E0FE-4823-8F8D-14062E4D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44448-9C35-4360-8C37-BB942F64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10분 이상 지속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6E33E-5A01-415A-9CDA-2C4ADBC2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149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동일 인프라·데이터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25B24C-C7B8-463C-9EB6-2E9C6E8C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149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개방형 도착률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4C206-B07C-4927-8A8C-4B036FFE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14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회복 시간 30초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C8537F-E75E-4F78-827C-2FFADA3C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부하 종료 후 오류율과 p99가 30초 연속 SLO를 만족할 때 회복으로 판정</a:t>
            </a:r>
          </a:p>
        </p:txBody>
      </p:sp>
    </p:spTree>
    <p:extLst>
      <p:ext uri="{BB962C8B-B14F-4D97-AF65-F5344CB8AC3E}">
        <p14:creationId xmlns:p14="http://schemas.microsoft.com/office/powerpoint/2010/main" val="4724286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42FF3-BDA5-4254-994D-122885CC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PROJECT · CLUVERSE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C56E9-7CE2-4DCF-94A1-A7B79D57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학교의 벽보다 관심사의 연결을 먼저 설계했다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94191-2023-45E1-9216-2BC5A460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F1B07-3805-4A59-A561-FBB1C82D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EBB93-5B80-4CC8-A37A-D9E5CEBF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전국 대학생이 학과·관심사로 모이고, 모집에서 실제 협업까지 이어지는 커뮤니티다.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98B40-274F-4CB1-B019-C6C110D6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286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관심사·학과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보드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CC3CB-D033-4B2F-8E41-36ACEB85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2286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845EF7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모집·지원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7419F-360C-40F5-9D4D-672BEC8D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67000"/>
            <a:ext cx="2286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그룹 운영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D517E-9622-4D86-A80A-A34FBC22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1962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스파이크에서도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읽기 흐름 보호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09900" y="32956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115050" y="32956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20200" y="32956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67537-6A80-4585-B994-BE2D3D92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기술 목표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75F05-EAF4-4317-96DC-E3A655F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사람이 몰려도 핵심 조회·쓰기의 성공률과 tail latency가 무너지지 않는 구조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7B4D5-F5E5-4908-8639-BB25AF41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개인 프로젝트 · 2026.01–2026.07</a:t>
            </a:r>
          </a:p>
        </p:txBody>
      </p:sp>
    </p:spTree>
    <p:extLst>
      <p:ext uri="{BB962C8B-B14F-4D97-AF65-F5344CB8AC3E}">
        <p14:creationId xmlns:p14="http://schemas.microsoft.com/office/powerpoint/2010/main" val="7911793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2CAB0-D9AB-474B-85BB-4EF0DFD9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BACKEND ENGINEER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5C23B-69B3-4FDF-9A3A-D032948E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경계를 바꾸고,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남는 위험을 측정한다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7F928-601E-41BA-ABE0-852B7719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23950"/>
            <a:ext cx="685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A579F-2F81-404D-809C-0FAF94C6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239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증상과 성공 기준을 먼저 고정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F1589-871C-4905-A038-F40AE4F8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685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845EF7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2FA28-3E6F-41C4-9D19-0F22B225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대기·경합·내구성 비용을 분리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8DD6A-4B94-470B-915E-D2A793D9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685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4CCCF-A994-4919-AC7A-E1A6E34F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575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격벽·보상·폴백의 대가까지 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AB9F3-964C-4389-8887-63E4F57D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8AD5F-C34B-47FF-8180-316B1E4B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남은 과제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01F3D-30D1-4DE9-AE87-433F3A33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외부 보강 작업의 Outbox 전환 · Redis 내구성/체크포인트 운영 · 업로드 규모 증가 시 비동기 접수와 backpressure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E01FF-DA08-45FD-B19D-F35E0527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배준서 Junseo Bae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FD934-974A-44FE-9207-71C9BBD9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6265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bjs7378@naver.com  ·  github.com/bebeis  ·  velog.io/@bebeis/posts</a:t>
            </a:r>
          </a:p>
        </p:txBody>
      </p:sp>
    </p:spTree>
    <p:extLst>
      <p:ext uri="{BB962C8B-B14F-4D97-AF65-F5344CB8AC3E}">
        <p14:creationId xmlns:p14="http://schemas.microsoft.com/office/powerpoint/2010/main" val="1768159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2026-08-17T14:15:01.0820000Z</dcterms:created>
  <dcterms:modified xsi:type="dcterms:W3CDTF">2026-08-17T14:15:01.0820000Z</dcterms:modified>
</coreProperties>
</file>